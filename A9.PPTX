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handoutMasterIdLst>
    <p:handoutMasterId r:id="rId26"/>
  </p:handoutMasterIdLst>
  <p:sldIdLst>
    <p:sldId id="257" r:id="rId5"/>
    <p:sldId id="258" r:id="rId6"/>
    <p:sldId id="259" r:id="rId7"/>
    <p:sldId id="260" r:id="rId8"/>
    <p:sldId id="261" r:id="rId9"/>
    <p:sldId id="262" r:id="rId10"/>
    <p:sldId id="264" r:id="rId11"/>
    <p:sldId id="269" r:id="rId12"/>
    <p:sldId id="265" r:id="rId13"/>
    <p:sldId id="282" r:id="rId14"/>
    <p:sldId id="283" r:id="rId15"/>
    <p:sldId id="263" r:id="rId16"/>
    <p:sldId id="271" r:id="rId17"/>
    <p:sldId id="272" r:id="rId18"/>
    <p:sldId id="273" r:id="rId19"/>
    <p:sldId id="281" r:id="rId20"/>
    <p:sldId id="268" r:id="rId21"/>
    <p:sldId id="278" r:id="rId22"/>
    <p:sldId id="280"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704" autoAdjust="0"/>
  </p:normalViewPr>
  <p:slideViewPr>
    <p:cSldViewPr snapToGrid="0">
      <p:cViewPr>
        <p:scale>
          <a:sx n="75" d="100"/>
          <a:sy n="75" d="100"/>
        </p:scale>
        <p:origin x="965" y="283"/>
      </p:cViewPr>
      <p:guideLst/>
    </p:cSldViewPr>
  </p:slideViewPr>
  <p:notesTextViewPr>
    <p:cViewPr>
      <p:scale>
        <a:sx n="1" d="1"/>
        <a:sy n="1" d="1"/>
      </p:scale>
      <p:origin x="0" y="0"/>
    </p:cViewPr>
  </p:notesTextViewPr>
  <p:notesViewPr>
    <p:cSldViewPr snapToGrid="0" showGuides="1">
      <p:cViewPr varScale="1">
        <p:scale>
          <a:sx n="79" d="100"/>
          <a:sy n="79" d="100"/>
        </p:scale>
        <p:origin x="234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DC2751-278C-4682-9C3F-0FF7B4FCFAE7}" type="datetimeFigureOut">
              <a:rPr lang="en-US" smtClean="0"/>
              <a:t>4/22/2024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286890-466E-41CD-A28A-B1EBDF22CA33}" type="slidenum">
              <a:rPr lang="en-US" smtClean="0"/>
              <a:t>‹#›</a:t>
            </a:fld>
            <a:endParaRPr lang="en-US" dirty="0"/>
          </a:p>
        </p:txBody>
      </p:sp>
    </p:spTree>
    <p:extLst>
      <p:ext uri="{BB962C8B-B14F-4D97-AF65-F5344CB8AC3E}">
        <p14:creationId xmlns:p14="http://schemas.microsoft.com/office/powerpoint/2010/main" val="15862942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F0845-D09E-4AF9-9623-EA7EA0297EF3}" type="datetimeFigureOut">
              <a:rPr lang="en-US" smtClean="0"/>
              <a:t>4/22/2024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CD11A-EED3-40CE-98A3-28FEE84867B3}" type="slidenum">
              <a:rPr lang="en-US" smtClean="0"/>
              <a:t>‹#›</a:t>
            </a:fld>
            <a:endParaRPr lang="en-US" dirty="0"/>
          </a:p>
        </p:txBody>
      </p:sp>
    </p:spTree>
    <p:extLst>
      <p:ext uri="{BB962C8B-B14F-4D97-AF65-F5344CB8AC3E}">
        <p14:creationId xmlns:p14="http://schemas.microsoft.com/office/powerpoint/2010/main" val="199576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7CD11A-EED3-40CE-98A3-28FEE84867B3}" type="slidenum">
              <a:rPr lang="en-US" smtClean="0"/>
              <a:t>1</a:t>
            </a:fld>
            <a:endParaRPr lang="en-US" dirty="0"/>
          </a:p>
        </p:txBody>
      </p:sp>
    </p:spTree>
    <p:extLst>
      <p:ext uri="{BB962C8B-B14F-4D97-AF65-F5344CB8AC3E}">
        <p14:creationId xmlns:p14="http://schemas.microsoft.com/office/powerpoint/2010/main" val="24911602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6000">
                <a:solidFill>
                  <a:schemeClr val="tx2">
                    <a:lumMod val="20000"/>
                    <a:lumOff val="8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409693A-2307-4FDC-9539-08DC9083DDED}"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2819406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320E1C1-C26F-4479-A8BD-144B4C139DA5}"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2361943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8"/>
            <a:ext cx="10515600" cy="2862262"/>
          </a:xfrm>
        </p:spPr>
        <p:txBody>
          <a:bodyPr anchor="b"/>
          <a:lstStyle>
            <a:lvl1pPr>
              <a:lnSpc>
                <a:spcPct val="100000"/>
              </a:lnSpc>
              <a:defRPr sz="6000"/>
            </a:lvl1pPr>
          </a:lstStyle>
          <a:p>
            <a:r>
              <a:rPr lang="en-US"/>
              <a:t>Click to edit Master title style</a:t>
            </a:r>
          </a:p>
        </p:txBody>
      </p:sp>
      <p:sp>
        <p:nvSpPr>
          <p:cNvPr id="3" name="Text Placeholder 2"/>
          <p:cNvSpPr>
            <a:spLocks noGrp="1"/>
          </p:cNvSpPr>
          <p:nvPr>
            <p:ph type="body" idx="1"/>
          </p:nvPr>
        </p:nvSpPr>
        <p:spPr>
          <a:xfrm>
            <a:off x="457200" y="4589463"/>
            <a:ext cx="10515600" cy="1500187"/>
          </a:xfrm>
        </p:spPr>
        <p:txBody>
          <a:bodyPr/>
          <a:lstStyle>
            <a:lvl1pPr marL="0" indent="0">
              <a:buNone/>
              <a:defRPr sz="2400" b="1">
                <a:solidFill>
                  <a:schemeClr val="tx2">
                    <a:lumMod val="50000"/>
                  </a:schemeClr>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p:cNvSpPr>
            <a:spLocks noGrp="1"/>
          </p:cNvSpPr>
          <p:nvPr>
            <p:ph type="dt" sz="half" idx="10"/>
          </p:nvPr>
        </p:nvSpPr>
        <p:spPr/>
        <p:txBody>
          <a:bodyPr/>
          <a:lstStyle/>
          <a:p>
            <a:fld id="{BF519E61-C2D6-49AB-83F2-8FC9FEFBDAFD}"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273127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hasCustomPrompt="1"/>
          </p:nvPr>
        </p:nvSpPr>
        <p:spPr>
          <a:xfrm>
            <a:off x="457200" y="1825625"/>
            <a:ext cx="4892040" cy="4351338"/>
          </a:xfrm>
        </p:spPr>
        <p:txBody>
          <a:bodyPr vert="horz" lIns="91440" tIns="45720" rIns="91440" bIns="45720" rtlCol="0">
            <a:normAutofit/>
          </a:bodyPr>
          <a:lstStyle>
            <a:lvl1pPr>
              <a:defRPr lang="en-US" baseline="0" noProof="0" dirty="0" smtClean="0">
                <a:solidFill>
                  <a:schemeClr val="bg1"/>
                </a:solidFill>
              </a:defRPr>
            </a:lvl1pPr>
            <a:lvl2pPr>
              <a:defRPr lang="en-US" baseline="0" noProof="0" dirty="0" smtClean="0">
                <a:solidFill>
                  <a:schemeClr val="bg1"/>
                </a:solidFill>
              </a:defRPr>
            </a:lvl2pPr>
            <a:lvl3pPr>
              <a:defRPr lang="en-US" baseline="0" noProof="0" dirty="0" smtClean="0">
                <a:solidFill>
                  <a:schemeClr val="bg1"/>
                </a:solidFill>
              </a:defRPr>
            </a:lvl3pPr>
            <a:lvl4pPr>
              <a:defRPr lang="en-US" baseline="0" noProof="0" dirty="0" smtClean="0">
                <a:solidFill>
                  <a:schemeClr val="bg1"/>
                </a:solidFill>
              </a:defRPr>
            </a:lvl4pPr>
            <a:lvl5pPr>
              <a:defRPr lang="en-US" baseline="0" noProof="0" dirty="0" smtClean="0">
                <a:solidFill>
                  <a:schemeClr val="bg1"/>
                </a:solidFill>
              </a:defRPr>
            </a:lvl5pPr>
            <a:lvl6pPr>
              <a:defRPr sz="1800"/>
            </a:lvl6pPr>
            <a:lvl7pPr>
              <a:defRPr sz="1800"/>
            </a:lvl7pPr>
            <a:lvl8pPr>
              <a:defRPr sz="180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kumimoji="0" lang="en-US" sz="1800" b="0" i="0" u="none" strike="noStrike" kern="1200" cap="none" spc="0" normalizeH="0" baseline="0" noProof="0" dirty="0">
              <a:ln>
                <a:noFill/>
              </a:ln>
              <a:solidFill>
                <a:srgbClr val="E9E5DC"/>
              </a:solidFill>
              <a:effectLst/>
              <a:uLnTx/>
              <a:uFillTx/>
              <a:latin typeface="+mn-lt"/>
            </a:endParaRPr>
          </a:p>
        </p:txBody>
      </p:sp>
      <p:sp>
        <p:nvSpPr>
          <p:cNvPr id="4" name="Content Placeholder 3"/>
          <p:cNvSpPr>
            <a:spLocks noGrp="1"/>
          </p:cNvSpPr>
          <p:nvPr>
            <p:ph sz="half" idx="2" hasCustomPrompt="1"/>
          </p:nvPr>
        </p:nvSpPr>
        <p:spPr>
          <a:xfrm>
            <a:off x="5650524" y="1825625"/>
            <a:ext cx="4892040" cy="4351338"/>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noProof="0" dirty="0" smtClean="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kumimoji="0" lang="en-US" sz="1800" b="0" i="0" u="none" strike="noStrike" kern="1200" cap="none" spc="0" normalizeH="0" baseline="0" noProof="0" dirty="0">
              <a:ln>
                <a:noFill/>
              </a:ln>
              <a:solidFill>
                <a:srgbClr val="E9E5DC"/>
              </a:solidFill>
              <a:effectLst/>
              <a:uLnTx/>
              <a:uFillTx/>
              <a:latin typeface="+mn-lt"/>
            </a:endParaRPr>
          </a:p>
        </p:txBody>
      </p:sp>
      <p:sp>
        <p:nvSpPr>
          <p:cNvPr id="5" name="Date Placeholder 4"/>
          <p:cNvSpPr>
            <a:spLocks noGrp="1"/>
          </p:cNvSpPr>
          <p:nvPr>
            <p:ph type="dt" sz="half" idx="10"/>
          </p:nvPr>
        </p:nvSpPr>
        <p:spPr/>
        <p:txBody>
          <a:bodyPr/>
          <a:lstStyle/>
          <a:p>
            <a:fld id="{047BE74F-367A-4D3C-8AA7-FA60CCA05EAE}" type="datetime1">
              <a:rPr lang="en-US" smtClean="0"/>
              <a:t>4/22/2024</a:t>
            </a:fld>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41839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39150"/>
            <a:ext cx="10094976" cy="1152144"/>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828800"/>
            <a:ext cx="489204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hasCustomPrompt="1"/>
          </p:nvPr>
        </p:nvSpPr>
        <p:spPr>
          <a:xfrm>
            <a:off x="457200" y="2498723"/>
            <a:ext cx="4892040" cy="3101977"/>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noProof="0" dirty="0" smtClean="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kumimoji="0" lang="en-US" sz="1800" b="0" i="0" u="none" strike="noStrike" kern="1200" cap="none" spc="0" normalizeH="0" baseline="0" noProof="0" dirty="0">
              <a:ln>
                <a:noFill/>
              </a:ln>
              <a:solidFill>
                <a:srgbClr val="E9E5DC"/>
              </a:solidFill>
              <a:effectLst/>
              <a:uLnTx/>
              <a:uFillTx/>
              <a:latin typeface="+mn-lt"/>
            </a:endParaRPr>
          </a:p>
        </p:txBody>
      </p:sp>
      <p:sp>
        <p:nvSpPr>
          <p:cNvPr id="5" name="Text Placeholder 4"/>
          <p:cNvSpPr>
            <a:spLocks noGrp="1"/>
          </p:cNvSpPr>
          <p:nvPr>
            <p:ph type="body" sz="quarter" idx="3"/>
          </p:nvPr>
        </p:nvSpPr>
        <p:spPr>
          <a:xfrm>
            <a:off x="5656753" y="1828800"/>
            <a:ext cx="489204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hasCustomPrompt="1"/>
          </p:nvPr>
        </p:nvSpPr>
        <p:spPr>
          <a:xfrm>
            <a:off x="5656753" y="2498723"/>
            <a:ext cx="4892040" cy="3101977"/>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noProof="0" dirty="0" smtClean="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kumimoji="0" lang="en-US" sz="1800" b="0" i="0" u="none" strike="noStrike" kern="1200" cap="none" spc="0" normalizeH="0" baseline="0" noProof="0" dirty="0">
              <a:ln>
                <a:noFill/>
              </a:ln>
              <a:solidFill>
                <a:srgbClr val="E9E5DC"/>
              </a:solidFill>
              <a:effectLst/>
              <a:uLnTx/>
              <a:uFillTx/>
              <a:latin typeface="+mn-lt"/>
            </a:endParaRPr>
          </a:p>
        </p:txBody>
      </p:sp>
      <p:sp>
        <p:nvSpPr>
          <p:cNvPr id="7" name="Date Placeholder 6"/>
          <p:cNvSpPr>
            <a:spLocks noGrp="1"/>
          </p:cNvSpPr>
          <p:nvPr>
            <p:ph type="dt" sz="half" idx="10"/>
          </p:nvPr>
        </p:nvSpPr>
        <p:spPr/>
        <p:txBody>
          <a:bodyPr/>
          <a:lstStyle/>
          <a:p>
            <a:fld id="{A79E3F9C-6465-4987-8E4E-615CFD4753AA}" type="datetime1">
              <a:rPr lang="en-US" smtClean="0"/>
              <a:t>4/22/2024</a:t>
            </a:fld>
            <a:endParaRPr lang="en-US" dirty="0"/>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3405661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49EFD6-3C20-43C6-9E75-1A9D48D9576F}" type="datetime1">
              <a:rPr lang="en-US" smtClean="0"/>
              <a:t>4/22/2024</a:t>
            </a:fld>
            <a:endParaRPr lang="en-US" dirty="0"/>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3363858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493D5A-A484-46EE-9DC8-9A16BFF8327E}" type="datetime1">
              <a:rPr lang="en-US" smtClean="0"/>
              <a:t>4/22/2024</a:t>
            </a:fld>
            <a:endParaRPr lang="en-US" dirty="0"/>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1927605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09599"/>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hasCustomPrompt="1"/>
          </p:nvPr>
        </p:nvSpPr>
        <p:spPr>
          <a:xfrm>
            <a:off x="4800600" y="987425"/>
            <a:ext cx="5753100" cy="4613275"/>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noProof="0" dirty="0" smtClean="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kumimoji="0" lang="en-US" sz="1800" b="0" i="0" u="none" strike="noStrike" kern="1200" cap="none" spc="0" normalizeH="0" baseline="0" noProof="0" dirty="0">
              <a:ln>
                <a:noFill/>
              </a:ln>
              <a:solidFill>
                <a:srgbClr val="E9E5DC"/>
              </a:solidFill>
              <a:effectLst/>
              <a:uLnTx/>
              <a:uFillTx/>
              <a:latin typeface="+mn-lt"/>
            </a:endParaRPr>
          </a:p>
        </p:txBody>
      </p:sp>
      <p:sp>
        <p:nvSpPr>
          <p:cNvPr id="4" name="Text Placeholder 3"/>
          <p:cNvSpPr>
            <a:spLocks noGrp="1"/>
          </p:cNvSpPr>
          <p:nvPr>
            <p:ph type="body" sz="half" idx="2"/>
          </p:nvPr>
        </p:nvSpPr>
        <p:spPr>
          <a:xfrm>
            <a:off x="457200" y="2254249"/>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287BC8-78D1-4FEB-9D4F-E22E45CC04F7}" type="datetime1">
              <a:rPr lang="en-US" smtClean="0"/>
              <a:t>4/22/2024</a:t>
            </a:fld>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128772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09599"/>
            <a:ext cx="3932237" cy="160020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800600" y="987425"/>
            <a:ext cx="5753100" cy="46132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254249"/>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568210-870C-4A62-9D1B-4B25162550AB}" type="datetime1">
              <a:rPr lang="en-US" smtClean="0"/>
              <a:t>4/22/2024</a:t>
            </a:fld>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56957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hasCustomPrompt="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0011EA7-B10E-4739-92FE-8993461CC0B7}"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4079542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91661"/>
            <a:ext cx="2628900" cy="49090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691661"/>
            <a:ext cx="7734300" cy="49090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5DC13F-2D2A-49BA-966D-6530A12E7C15}" type="datetime1">
              <a:rPr lang="en-US" smtClean="0"/>
              <a:t>4/22/2024</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E5B29C50-D6F1-4DB6-9B68-F4CD3996E9CF}" type="slidenum">
              <a:rPr lang="en-US" smtClean="0"/>
              <a:t>‹#›</a:t>
            </a:fld>
            <a:endParaRPr lang="en-US" dirty="0"/>
          </a:p>
        </p:txBody>
      </p:sp>
    </p:spTree>
    <p:extLst>
      <p:ext uri="{BB962C8B-B14F-4D97-AF65-F5344CB8AC3E}">
        <p14:creationId xmlns:p14="http://schemas.microsoft.com/office/powerpoint/2010/main" val="179250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39793"/>
            <a:ext cx="10096500" cy="11509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0096500" cy="37780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2">
                    <a:lumMod val="20000"/>
                    <a:lumOff val="80000"/>
                  </a:schemeClr>
                </a:solidFill>
              </a:defRPr>
            </a:lvl1pPr>
          </a:lstStyle>
          <a:p>
            <a:fld id="{00CABDA2-EB00-4A4D-86B7-63E286A484E5}" type="datetime1">
              <a:rPr lang="en-US" smtClean="0"/>
              <a:t>4/22/2024</a:t>
            </a:fld>
            <a:endParaRPr lang="en-US" dirty="0"/>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2">
                    <a:lumMod val="20000"/>
                    <a:lumOff val="80000"/>
                  </a:schemeClr>
                </a:solidFill>
              </a:defRPr>
            </a:lvl1pPr>
          </a:lstStyle>
          <a:p>
            <a:r>
              <a:rPr lang="en-US" dirty="0"/>
              <a:t>Add a footer</a:t>
            </a:r>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2">
                    <a:lumMod val="20000"/>
                    <a:lumOff val="80000"/>
                  </a:schemeClr>
                </a:solidFill>
              </a:defRPr>
            </a:lvl1p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16564842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ts val="4000"/>
        </a:lnSpc>
        <a:spcBef>
          <a:spcPct val="0"/>
        </a:spcBef>
        <a:buNone/>
        <a:defRPr sz="4000" b="1" kern="1200" cap="none" spc="0">
          <a:ln w="12700" cmpd="sng">
            <a:noFill/>
            <a:prstDash val="solid"/>
          </a:ln>
          <a:solidFill>
            <a:schemeClr val="accent4">
              <a:lumMod val="50000"/>
            </a:schemeClr>
          </a:solidFill>
          <a:effectLst>
            <a:outerShdw blurRad="38100" dist="38100" dir="2700000" algn="tl">
              <a:srgbClr val="000000">
                <a:alpha val="43000"/>
              </a:srgbClr>
            </a:outerShdw>
          </a:effectLst>
          <a:latin typeface="+mj-lt"/>
          <a:ea typeface="+mj-ea"/>
          <a:cs typeface="+mj-cs"/>
        </a:defRPr>
      </a:lvl1pPr>
    </p:titleStyle>
    <p:bodyStyle>
      <a:lvl1pPr marL="2286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2"/>
          </a:solidFill>
          <a:latin typeface="+mn-lt"/>
          <a:ea typeface="+mn-ea"/>
          <a:cs typeface="+mn-cs"/>
        </a:defRPr>
      </a:lvl6pPr>
      <a:lvl7pPr marL="29718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2"/>
          </a:solidFill>
          <a:latin typeface="+mn-lt"/>
          <a:ea typeface="+mn-ea"/>
          <a:cs typeface="+mn-cs"/>
        </a:defRPr>
      </a:lvl7pPr>
      <a:lvl8pPr marL="34290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2"/>
          </a:solidFill>
          <a:latin typeface="+mn-lt"/>
          <a:ea typeface="+mn-ea"/>
          <a:cs typeface="+mn-cs"/>
        </a:defRPr>
      </a:lvl8pPr>
      <a:lvl9pPr marL="3886200" indent="-228600" algn="l" defTabSz="914400" rtl="0" eaLnBrk="1" latinLnBrk="0" hangingPunct="1">
        <a:lnSpc>
          <a:spcPct val="90000"/>
        </a:lnSpc>
        <a:spcBef>
          <a:spcPct val="30000"/>
        </a:spcBef>
        <a:buClr>
          <a:schemeClr val="bg1"/>
        </a:buClr>
        <a:buSzPct val="70000"/>
        <a:buFont typeface="Arial" panose="020B0604020202020204" pitchFamily="34" charset="0"/>
        <a:buChar char="•"/>
        <a:defRPr sz="1800" kern="1200">
          <a:solidFill>
            <a:schemeClr val="bg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pos="288" userDrawn="1">
          <p15:clr>
            <a:srgbClr val="F26B43"/>
          </p15:clr>
        </p15:guide>
        <p15:guide id="3" pos="6648" userDrawn="1">
          <p15:clr>
            <a:srgbClr val="F26B43"/>
          </p15:clr>
        </p15:guide>
        <p15:guide id="4" orient="horz" pos="3528" userDrawn="1">
          <p15:clr>
            <a:srgbClr val="F26B43"/>
          </p15:clr>
        </p15:guide>
        <p15:guide id="5" orient="horz" pos="112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5082" y="331694"/>
            <a:ext cx="9646023" cy="2792507"/>
          </a:xfrm>
        </p:spPr>
        <p:txBody>
          <a:bodyPr>
            <a:normAutofit fontScale="90000"/>
          </a:bodyPr>
          <a:lstStyle/>
          <a:p>
            <a:pPr>
              <a:lnSpc>
                <a:spcPct val="100000"/>
              </a:lnSpc>
            </a:pP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r>
              <a:rPr lang="en-US" sz="3100">
                <a:latin typeface="Times New Roman" panose="02020603050405020304" pitchFamily="18" charset="0"/>
                <a:cs typeface="Times New Roman" panose="02020603050405020304" pitchFamily="18" charset="0"/>
                <a:sym typeface="+mn-ea"/>
              </a:rPr>
              <a:t>SIR C.R.REDDY COLLEGE OF ENGINEERING</a:t>
            </a:r>
            <a:br>
              <a:rPr lang="en-US" sz="2200">
                <a:latin typeface="Times New Roman" panose="02020603050405020304" pitchFamily="18" charset="0"/>
                <a:cs typeface="Times New Roman" panose="02020603050405020304" pitchFamily="18" charset="0"/>
                <a:sym typeface="+mn-ea"/>
              </a:rPr>
            </a:br>
            <a:r>
              <a:rPr lang="en-US" sz="2000">
                <a:latin typeface="Times New Roman" panose="02020603050405020304" pitchFamily="18" charset="0"/>
                <a:cs typeface="Times New Roman" panose="02020603050405020304" pitchFamily="18" charset="0"/>
                <a:sym typeface="+mn-ea"/>
              </a:rPr>
              <a:t>AICTE, Permanently Affiliated to JNTU-KAKINADA</a:t>
            </a:r>
            <a:br>
              <a:rPr lang="en-US" sz="2000">
                <a:latin typeface="Times New Roman" panose="02020603050405020304" pitchFamily="18" charset="0"/>
                <a:cs typeface="Times New Roman" panose="02020603050405020304" pitchFamily="18" charset="0"/>
                <a:sym typeface="+mn-ea"/>
              </a:rPr>
            </a:br>
            <a:r>
              <a:rPr lang="en-US" sz="2000">
                <a:latin typeface="Times New Roman" panose="02020603050405020304" pitchFamily="18" charset="0"/>
                <a:cs typeface="Times New Roman" panose="02020603050405020304" pitchFamily="18" charset="0"/>
                <a:sym typeface="+mn-ea"/>
              </a:rPr>
              <a:t> accredited by the NBA, NAAC Eluru-534007 2023-2024</a:t>
            </a:r>
            <a:br>
              <a:rPr lang="en-IN" sz="20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br>
              <a:rPr lang="en-US" sz="1300">
                <a:latin typeface="Times New Roman" panose="02020603050405020304" pitchFamily="18" charset="0"/>
                <a:cs typeface="Times New Roman" panose="02020603050405020304" pitchFamily="18" charset="0"/>
                <a:sym typeface="+mn-ea"/>
              </a:rPr>
            </a:br>
            <a:r>
              <a:rPr lang="en-IN" sz="8000">
                <a:solidFill>
                  <a:srgbClr val="FF0000"/>
                </a:solidFill>
                <a:latin typeface="Times New Roman" panose="02020603050405020304" pitchFamily="18" charset="0"/>
                <a:cs typeface="Times New Roman" panose="02020603050405020304" pitchFamily="18" charset="0"/>
              </a:rPr>
              <a:t>FashionGPT</a:t>
            </a:r>
            <a:endParaRPr lang="en-US" sz="8000" dirty="0">
              <a:solidFill>
                <a:srgbClr val="FF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064188" y="3881399"/>
            <a:ext cx="4509246" cy="2044980"/>
          </a:xfrm>
        </p:spPr>
        <p:txBody>
          <a:bodyPr>
            <a:normAutofit fontScale="55000" lnSpcReduction="20000"/>
          </a:bodyPr>
          <a:lstStyle/>
          <a:p>
            <a:pPr algn="just"/>
            <a:r>
              <a:rPr lang="en-IN" sz="2900" b="1">
                <a:latin typeface="Times New Roman" panose="02020603050405020304" pitchFamily="18" charset="0"/>
                <a:cs typeface="Times New Roman" panose="02020603050405020304" pitchFamily="18" charset="0"/>
              </a:rPr>
              <a:t>PROJECT MEMBERS </a:t>
            </a:r>
            <a:r>
              <a:rPr lang="en-IN" sz="2900">
                <a:latin typeface="Times New Roman" panose="02020603050405020304" pitchFamily="18" charset="0"/>
                <a:cs typeface="Times New Roman" panose="02020603050405020304" pitchFamily="18" charset="0"/>
              </a:rPr>
              <a:t>	</a:t>
            </a:r>
          </a:p>
          <a:p>
            <a:pPr algn="just"/>
            <a:r>
              <a:rPr lang="en-IN" sz="2900">
                <a:latin typeface="Times New Roman" panose="02020603050405020304" pitchFamily="18" charset="0"/>
                <a:cs typeface="Times New Roman" panose="02020603050405020304" pitchFamily="18" charset="0"/>
              </a:rPr>
              <a:t> 	                                                                1.G.Anusha(20B81A1232) 	</a:t>
            </a:r>
          </a:p>
          <a:p>
            <a:pPr algn="just"/>
            <a:r>
              <a:rPr lang="en-IN" sz="2900">
                <a:latin typeface="Times New Roman" panose="02020603050405020304" pitchFamily="18" charset="0"/>
                <a:cs typeface="Times New Roman" panose="02020603050405020304" pitchFamily="18" charset="0"/>
              </a:rPr>
              <a:t>                                                                                                2.CH. Gruhitha(20B81A1215) </a:t>
            </a:r>
          </a:p>
          <a:p>
            <a:pPr algn="just"/>
            <a:r>
              <a:rPr lang="en-IN" sz="2900">
                <a:latin typeface="Times New Roman" panose="02020603050405020304" pitchFamily="18" charset="0"/>
                <a:cs typeface="Times New Roman" panose="02020603050405020304" pitchFamily="18" charset="0"/>
              </a:rPr>
              <a:t>                                                                                              3.K. Venu Gopal(20B81A1263) </a:t>
            </a:r>
          </a:p>
          <a:p>
            <a:pPr algn="just"/>
            <a:r>
              <a:rPr lang="en-IN" sz="2900">
                <a:latin typeface="Times New Roman" panose="02020603050405020304" pitchFamily="18" charset="0"/>
                <a:cs typeface="Times New Roman" panose="02020603050405020304" pitchFamily="18" charset="0"/>
              </a:rPr>
              <a:t>                                                                                       4.D.Narayana Reddy(20B81A1222) </a:t>
            </a:r>
          </a:p>
          <a:p>
            <a:endParaRPr lang="en-US" dirty="0"/>
          </a:p>
        </p:txBody>
      </p:sp>
      <p:pic>
        <p:nvPicPr>
          <p:cNvPr id="4" name="Content Placeholder 4">
            <a:extLst>
              <a:ext uri="{FF2B5EF4-FFF2-40B4-BE49-F238E27FC236}">
                <a16:creationId xmlns:a16="http://schemas.microsoft.com/office/drawing/2014/main" id="{2ED47139-5F63-4DFC-8182-1AAF9D4C6D32}"/>
              </a:ext>
            </a:extLst>
          </p:cNvPr>
          <p:cNvPicPr>
            <a:picLocks noGrp="1" noChangeAspect="1"/>
          </p:cNvPicPr>
          <p:nvPr/>
        </p:nvPicPr>
        <p:blipFill>
          <a:blip r:embed="rId3"/>
          <a:stretch>
            <a:fillRect/>
          </a:stretch>
        </p:blipFill>
        <p:spPr>
          <a:xfrm>
            <a:off x="825445" y="726888"/>
            <a:ext cx="1002665" cy="1117600"/>
          </a:xfrm>
          <a:prstGeom prst="rect">
            <a:avLst/>
          </a:prstGeom>
        </p:spPr>
      </p:pic>
      <p:sp>
        <p:nvSpPr>
          <p:cNvPr id="5" name="Rectangle 4">
            <a:extLst>
              <a:ext uri="{FF2B5EF4-FFF2-40B4-BE49-F238E27FC236}">
                <a16:creationId xmlns:a16="http://schemas.microsoft.com/office/drawing/2014/main" id="{5C04E2C5-D0B7-42FE-8F14-1E35C630BC00}"/>
              </a:ext>
            </a:extLst>
          </p:cNvPr>
          <p:cNvSpPr/>
          <p:nvPr/>
        </p:nvSpPr>
        <p:spPr>
          <a:xfrm>
            <a:off x="1667435" y="3881399"/>
            <a:ext cx="3711389" cy="1200329"/>
          </a:xfrm>
          <a:prstGeom prst="rect">
            <a:avLst/>
          </a:prstGeom>
        </p:spPr>
        <p:txBody>
          <a:bodyPr wrap="square">
            <a:spAutoFit/>
          </a:bodyPr>
          <a:lstStyle/>
          <a:p>
            <a:r>
              <a:rPr lang="en-US" b="1">
                <a:solidFill>
                  <a:schemeClr val="bg1"/>
                </a:solidFill>
                <a:latin typeface="Times New Roman" panose="02020603050405020304" pitchFamily="18" charset="0"/>
                <a:cs typeface="Times New Roman" panose="02020603050405020304" pitchFamily="18" charset="0"/>
              </a:rPr>
              <a:t>PROJECT GUIDE</a:t>
            </a:r>
          </a:p>
          <a:p>
            <a:endParaRPr lang="en-US">
              <a:solidFill>
                <a:schemeClr val="bg1"/>
              </a:solidFill>
              <a:latin typeface="Times New Roman" panose="02020603050405020304" pitchFamily="18" charset="0"/>
              <a:cs typeface="Times New Roman" panose="02020603050405020304" pitchFamily="18" charset="0"/>
            </a:endParaRPr>
          </a:p>
          <a:p>
            <a:r>
              <a:rPr lang="en-US">
                <a:solidFill>
                  <a:schemeClr val="bg1"/>
                </a:solidFill>
                <a:latin typeface="Times New Roman" panose="02020603050405020304" pitchFamily="18" charset="0"/>
                <a:cs typeface="Times New Roman" panose="02020603050405020304" pitchFamily="18" charset="0"/>
              </a:rPr>
              <a:t>G.VIHARI</a:t>
            </a:r>
          </a:p>
          <a:p>
            <a:r>
              <a:rPr lang="en-US">
                <a:solidFill>
                  <a:schemeClr val="bg1"/>
                </a:solidFill>
                <a:latin typeface="Times New Roman" panose="02020603050405020304" pitchFamily="18" charset="0"/>
                <a:cs typeface="Times New Roman" panose="02020603050405020304" pitchFamily="18" charset="0"/>
              </a:rPr>
              <a:t>Asst Professor</a:t>
            </a:r>
            <a:endParaRPr lang="en-IN"/>
          </a:p>
        </p:txBody>
      </p:sp>
    </p:spTree>
    <p:extLst>
      <p:ext uri="{BB962C8B-B14F-4D97-AF65-F5344CB8AC3E}">
        <p14:creationId xmlns:p14="http://schemas.microsoft.com/office/powerpoint/2010/main" val="1990881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502024" y="549212"/>
            <a:ext cx="10096500" cy="1150907"/>
          </a:xfrm>
        </p:spPr>
        <p:txBody>
          <a:bodyPr>
            <a:normAutofit/>
          </a:bodyPr>
          <a:lstStyle/>
          <a:p>
            <a:pPr algn="ctr"/>
            <a:r>
              <a:rPr lang="en-US">
                <a:solidFill>
                  <a:schemeClr val="accent1"/>
                </a:solidFill>
                <a:latin typeface="Times New Roman" panose="02020603050405020304" pitchFamily="18" charset="0"/>
                <a:cs typeface="Times New Roman" panose="02020603050405020304" pitchFamily="18" charset="0"/>
              </a:rPr>
              <a:t>Index</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1084728" y="1449107"/>
            <a:ext cx="9684123" cy="3778006"/>
          </a:xfrm>
        </p:spPr>
        <p:txBody>
          <a:bodyPr>
            <a:normAutofit fontScale="85000" lnSpcReduction="20000"/>
          </a:bodyPr>
          <a:lstStyle/>
          <a:p>
            <a:r>
              <a:rPr lang="en-US" sz="2200">
                <a:solidFill>
                  <a:schemeClr val="tx1"/>
                </a:solidFill>
                <a:latin typeface="Times New Roman" panose="02020603050405020304" pitchFamily="18" charset="0"/>
                <a:cs typeface="Times New Roman" panose="02020603050405020304" pitchFamily="18" charset="0"/>
              </a:rPr>
              <a:t>Abstract</a:t>
            </a:r>
          </a:p>
          <a:p>
            <a:r>
              <a:rPr lang="en-US" sz="2200">
                <a:solidFill>
                  <a:schemeClr val="tx1"/>
                </a:solidFill>
                <a:latin typeface="Times New Roman" panose="02020603050405020304" pitchFamily="18" charset="0"/>
                <a:cs typeface="Times New Roman" panose="02020603050405020304" pitchFamily="18" charset="0"/>
              </a:rPr>
              <a:t>Introduction</a:t>
            </a:r>
          </a:p>
          <a:p>
            <a:r>
              <a:rPr lang="en-US" sz="2200">
                <a:solidFill>
                  <a:schemeClr val="tx1"/>
                </a:solidFill>
                <a:latin typeface="Times New Roman" panose="02020603050405020304" pitchFamily="18" charset="0"/>
                <a:cs typeface="Times New Roman" panose="02020603050405020304" pitchFamily="18" charset="0"/>
              </a:rPr>
              <a:t>Benefits</a:t>
            </a:r>
          </a:p>
          <a:p>
            <a:r>
              <a:rPr lang="en-US" sz="2200">
                <a:solidFill>
                  <a:schemeClr val="tx1"/>
                </a:solidFill>
                <a:latin typeface="Times New Roman" panose="02020603050405020304" pitchFamily="18" charset="0"/>
                <a:cs typeface="Times New Roman" panose="02020603050405020304" pitchFamily="18" charset="0"/>
              </a:rPr>
              <a:t>Use Cases</a:t>
            </a:r>
          </a:p>
          <a:p>
            <a:r>
              <a:rPr lang="en-US" sz="2200">
                <a:solidFill>
                  <a:schemeClr val="tx1"/>
                </a:solidFill>
                <a:latin typeface="Times New Roman" panose="02020603050405020304" pitchFamily="18" charset="0"/>
                <a:cs typeface="Times New Roman" panose="02020603050405020304" pitchFamily="18" charset="0"/>
              </a:rPr>
              <a:t>Existing System</a:t>
            </a:r>
          </a:p>
          <a:p>
            <a:r>
              <a:rPr lang="en-US" sz="2200">
                <a:solidFill>
                  <a:schemeClr val="tx1"/>
                </a:solidFill>
                <a:latin typeface="Times New Roman" panose="02020603050405020304" pitchFamily="18" charset="0"/>
                <a:cs typeface="Times New Roman" panose="02020603050405020304" pitchFamily="18" charset="0"/>
              </a:rPr>
              <a:t>Disadvantages</a:t>
            </a:r>
          </a:p>
          <a:p>
            <a:r>
              <a:rPr lang="en-US" sz="2200">
                <a:solidFill>
                  <a:schemeClr val="tx1"/>
                </a:solidFill>
                <a:latin typeface="Times New Roman" panose="02020603050405020304" pitchFamily="18" charset="0"/>
                <a:cs typeface="Times New Roman" panose="02020603050405020304" pitchFamily="18" charset="0"/>
              </a:rPr>
              <a:t>Proposed System</a:t>
            </a:r>
          </a:p>
          <a:p>
            <a:r>
              <a:rPr lang="en-US" sz="2200">
                <a:solidFill>
                  <a:schemeClr val="tx1"/>
                </a:solidFill>
                <a:latin typeface="Times New Roman" panose="02020603050405020304" pitchFamily="18" charset="0"/>
                <a:cs typeface="Times New Roman" panose="02020603050405020304" pitchFamily="18" charset="0"/>
              </a:rPr>
              <a:t>Problem Statement</a:t>
            </a:r>
          </a:p>
          <a:p>
            <a:r>
              <a:rPr lang="en-IN" sz="2200">
                <a:solidFill>
                  <a:schemeClr val="tx1"/>
                </a:solidFill>
                <a:latin typeface="Times New Roman" panose="02020603050405020304" pitchFamily="18" charset="0"/>
                <a:cs typeface="Times New Roman" panose="02020603050405020304" pitchFamily="18" charset="0"/>
              </a:rPr>
              <a:t>Methodology</a:t>
            </a:r>
            <a:endParaRPr lang="en-US" sz="2200">
              <a:solidFill>
                <a:schemeClr val="tx1"/>
              </a:solidFill>
              <a:latin typeface="Times New Roman" panose="02020603050405020304" pitchFamily="18" charset="0"/>
              <a:cs typeface="Times New Roman" panose="02020603050405020304" pitchFamily="18" charset="0"/>
            </a:endParaRPr>
          </a:p>
          <a:p>
            <a:r>
              <a:rPr lang="en-US" sz="2200">
                <a:solidFill>
                  <a:schemeClr val="tx1"/>
                </a:solidFill>
                <a:latin typeface="Times New Roman" panose="02020603050405020304" pitchFamily="18" charset="0"/>
                <a:cs typeface="Times New Roman" panose="02020603050405020304" pitchFamily="18" charset="0"/>
              </a:rPr>
              <a:t>Algorithms Usage</a:t>
            </a:r>
          </a:p>
          <a:p>
            <a:r>
              <a:rPr lang="en-US" sz="2200">
                <a:solidFill>
                  <a:schemeClr val="tx1"/>
                </a:solidFill>
                <a:latin typeface="Times New Roman" panose="02020603050405020304" pitchFamily="18" charset="0"/>
                <a:cs typeface="Times New Roman" panose="02020603050405020304" pitchFamily="18" charset="0"/>
              </a:rPr>
              <a:t>System Requirements</a:t>
            </a:r>
          </a:p>
          <a:p>
            <a:r>
              <a:rPr lang="en-US" sz="2200">
                <a:solidFill>
                  <a:schemeClr val="tx1"/>
                </a:solidFill>
                <a:latin typeface="Times New Roman" panose="02020603050405020304" pitchFamily="18" charset="0"/>
                <a:cs typeface="Times New Roman" panose="02020603050405020304" pitchFamily="18" charset="0"/>
              </a:rPr>
              <a:t>Implementation</a:t>
            </a:r>
          </a:p>
          <a:p>
            <a:r>
              <a:rPr lang="en-US" sz="2200">
                <a:solidFill>
                  <a:schemeClr val="tx1"/>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
            </a:pPr>
            <a:endParaRPr lang="en-US" sz="18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85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47" y="594969"/>
            <a:ext cx="10114429" cy="1150907"/>
          </a:xfrm>
        </p:spPr>
        <p:txBody>
          <a:bodyPr>
            <a:normAutofit/>
          </a:bodyPr>
          <a:lstStyle/>
          <a:p>
            <a:pPr algn="ctr"/>
            <a:r>
              <a:rPr lang="en-US">
                <a:solidFill>
                  <a:schemeClr val="accent1"/>
                </a:solidFill>
                <a:latin typeface="Times New Roman" panose="02020603050405020304" pitchFamily="18" charset="0"/>
                <a:cs typeface="Times New Roman" panose="02020603050405020304" pitchFamily="18" charset="0"/>
              </a:rPr>
              <a:t>Abstract</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17965F41-5C3A-43DD-B7EB-AE66CD8D3283}"/>
              </a:ext>
            </a:extLst>
          </p:cNvPr>
          <p:cNvSpPr>
            <a:spLocks noGrp="1"/>
          </p:cNvSpPr>
          <p:nvPr>
            <p:ph idx="1"/>
          </p:nvPr>
        </p:nvSpPr>
        <p:spPr>
          <a:xfrm>
            <a:off x="1002927" y="1539997"/>
            <a:ext cx="9745756" cy="3778006"/>
          </a:xfrm>
        </p:spPr>
        <p:txBody>
          <a:bodyPr>
            <a:normAutofit/>
          </a:bodyPr>
          <a:lstStyle/>
          <a:p>
            <a:endParaRPr lang="en-IN" dirty="0">
              <a:latin typeface="Times New Roman" panose="02020603050405020304" pitchFamily="18" charset="0"/>
              <a:cs typeface="Times New Roman" panose="02020603050405020304" pitchFamily="18" charset="0"/>
            </a:endParaRPr>
          </a:p>
          <a:p>
            <a:pPr marL="0" indent="0" algn="just">
              <a:buNone/>
            </a:pPr>
            <a:r>
              <a:rPr lang="en-US" sz="2000">
                <a:solidFill>
                  <a:schemeClr val="tx1"/>
                </a:solidFill>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Fashion GPT project aims to leverage Natural Language Processing (NLP) techniques to generate compelling and </a:t>
            </a:r>
            <a:r>
              <a:rPr lang="en-US" sz="2000">
                <a:solidFill>
                  <a:schemeClr val="tx1"/>
                </a:solidFill>
                <a:latin typeface="Times New Roman" panose="02020603050405020304" pitchFamily="18" charset="0"/>
                <a:cs typeface="Times New Roman" panose="02020603050405020304" pitchFamily="18" charset="0"/>
              </a:rPr>
              <a:t>fashion-forward  </a:t>
            </a:r>
            <a:r>
              <a:rPr lang="en-US" sz="2000" dirty="0">
                <a:solidFill>
                  <a:schemeClr val="tx1"/>
                </a:solidFill>
                <a:latin typeface="Times New Roman" panose="02020603050405020304" pitchFamily="18" charset="0"/>
                <a:cs typeface="Times New Roman" panose="02020603050405020304" pitchFamily="18" charset="0"/>
              </a:rPr>
              <a:t>for </a:t>
            </a:r>
            <a:r>
              <a:rPr lang="en-US" sz="2000">
                <a:solidFill>
                  <a:schemeClr val="tx1"/>
                </a:solidFill>
                <a:latin typeface="Times New Roman" panose="02020603050405020304" pitchFamily="18" charset="0"/>
                <a:cs typeface="Times New Roman" panose="02020603050405020304" pitchFamily="18" charset="0"/>
              </a:rPr>
              <a:t>various fashion-related image </a:t>
            </a:r>
            <a:r>
              <a:rPr lang="en-US" sz="2000" dirty="0">
                <a:solidFill>
                  <a:schemeClr val="tx1"/>
                </a:solidFill>
                <a:latin typeface="Times New Roman" panose="02020603050405020304" pitchFamily="18" charset="0"/>
                <a:cs typeface="Times New Roman" panose="02020603050405020304" pitchFamily="18" charset="0"/>
              </a:rPr>
              <a:t>content. With the ever-growing influence of social media, ecommerce, and digital platforms in the fashion industry, there is a rising demand for engaging and creative textual content to accompany visual elements such as images and videos. The proposed Fashion GPT model </a:t>
            </a:r>
            <a:r>
              <a:rPr lang="en-US" sz="2000">
                <a:solidFill>
                  <a:schemeClr val="tx1"/>
                </a:solidFill>
                <a:latin typeface="Times New Roman" panose="02020603050405020304" pitchFamily="18" charset="0"/>
                <a:cs typeface="Times New Roman" panose="02020603050405020304" pitchFamily="18" charset="0"/>
              </a:rPr>
              <a:t>utilizes Machine </a:t>
            </a:r>
            <a:r>
              <a:rPr lang="en-US" sz="2000" dirty="0">
                <a:solidFill>
                  <a:schemeClr val="tx1"/>
                </a:solidFill>
                <a:latin typeface="Times New Roman" panose="02020603050405020304" pitchFamily="18" charset="0"/>
                <a:cs typeface="Times New Roman" panose="02020603050405020304" pitchFamily="18" charset="0"/>
              </a:rPr>
              <a:t>learning techniques, particularly </a:t>
            </a:r>
            <a:r>
              <a:rPr lang="en-US" sz="2000">
                <a:solidFill>
                  <a:schemeClr val="tx1"/>
                </a:solidFill>
                <a:latin typeface="Times New Roman" panose="02020603050405020304" pitchFamily="18" charset="0"/>
                <a:cs typeface="Times New Roman" panose="02020603050405020304" pitchFamily="18" charset="0"/>
              </a:rPr>
              <a:t>the GPT-2 </a:t>
            </a:r>
            <a:r>
              <a:rPr lang="en-US" sz="2000" dirty="0">
                <a:solidFill>
                  <a:schemeClr val="tx1"/>
                </a:solidFill>
                <a:latin typeface="Times New Roman" panose="02020603050405020304" pitchFamily="18" charset="0"/>
                <a:cs typeface="Times New Roman" panose="02020603050405020304" pitchFamily="18" charset="0"/>
              </a:rPr>
              <a:t>architecture, to understand and generate contextually relevant and stylistically appealing descriptions for fashion-related items, outfits, and trends. The model is trained on a diverse dataset comprising fashion articles, product descriptions, and user-generated content from reputable sources to ensure a comprehensive understanding of the language used in the fashion domain. </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437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130" y="556869"/>
            <a:ext cx="10096500" cy="1150907"/>
          </a:xfrm>
        </p:spPr>
        <p:txBody>
          <a:bodyPr/>
          <a:lstStyle/>
          <a:p>
            <a:pPr algn="ctr"/>
            <a:r>
              <a:rPr lang="en-US">
                <a:solidFill>
                  <a:schemeClr val="accent1"/>
                </a:solidFill>
                <a:latin typeface="Times New Roman" panose="02020603050405020304" pitchFamily="18" charset="0"/>
                <a:cs typeface="Times New Roman" panose="02020603050405020304" pitchFamily="18" charset="0"/>
              </a:rPr>
              <a:t>Introduction</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sz="half" idx="1"/>
          </p:nvPr>
        </p:nvSpPr>
        <p:spPr>
          <a:xfrm>
            <a:off x="1165411" y="1591235"/>
            <a:ext cx="9325537" cy="3442447"/>
          </a:xfrm>
        </p:spPr>
        <p:txBody>
          <a:bodyPr/>
          <a:lstStyle/>
          <a:p>
            <a:pPr marL="0" indent="0" algn="just">
              <a:buNone/>
            </a:pPr>
            <a:r>
              <a:rPr lang="en-US" sz="2000" b="1">
                <a:solidFill>
                  <a:schemeClr val="tx1"/>
                </a:solidFill>
                <a:latin typeface="Times New Roman" panose="02020603050405020304" pitchFamily="18" charset="0"/>
                <a:cs typeface="Times New Roman" panose="02020603050405020304" pitchFamily="18" charset="0"/>
              </a:rPr>
              <a:t>Purpose</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FashionGPT is an AI-powered fashion responsive system designed to provide personalized style suggestions and fashion advice to users.</a:t>
            </a:r>
          </a:p>
          <a:p>
            <a:pPr marL="0" indent="0" algn="just">
              <a:buNone/>
            </a:pPr>
            <a:endParaRPr lang="en-US" sz="2000">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Functionality</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Using Machine learning algorithms, FashionGPT analyzes user preferences, fashion trends, and style data to generate tailored response for clothing, accessories, and outfits.</a:t>
            </a:r>
          </a:p>
          <a:p>
            <a:pPr marL="0" indent="0">
              <a:buNone/>
            </a:pPr>
            <a:endParaRPr lang="en-US" sz="2000">
              <a:solidFill>
                <a:schemeClr val="tx1"/>
              </a:solidFill>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290065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081" y="482101"/>
            <a:ext cx="10096500" cy="1150907"/>
          </a:xfrm>
        </p:spPr>
        <p:txBody>
          <a:bodyPr>
            <a:normAutofit/>
          </a:bodyPr>
          <a:lstStyle/>
          <a:p>
            <a:pPr algn="ctr"/>
            <a:r>
              <a:rPr lang="en-US">
                <a:solidFill>
                  <a:schemeClr val="accent1"/>
                </a:solidFill>
                <a:latin typeface="Times New Roman" panose="02020603050405020304" pitchFamily="18" charset="0"/>
                <a:cs typeface="Times New Roman" panose="02020603050405020304" pitchFamily="18" charset="0"/>
              </a:rPr>
              <a:t>Benefits of FashionGPT</a:t>
            </a:r>
          </a:p>
        </p:txBody>
      </p:sp>
      <p:sp>
        <p:nvSpPr>
          <p:cNvPr id="4" name="Content Placeholder 3">
            <a:extLst>
              <a:ext uri="{FF2B5EF4-FFF2-40B4-BE49-F238E27FC236}">
                <a16:creationId xmlns:a16="http://schemas.microsoft.com/office/drawing/2014/main" id="{10FE5BFD-388C-4F7E-B064-55B1ADC500B4}"/>
              </a:ext>
            </a:extLst>
          </p:cNvPr>
          <p:cNvSpPr>
            <a:spLocks noGrp="1"/>
          </p:cNvSpPr>
          <p:nvPr>
            <p:ph sz="half" idx="1"/>
          </p:nvPr>
        </p:nvSpPr>
        <p:spPr>
          <a:xfrm>
            <a:off x="1344707" y="1422213"/>
            <a:ext cx="9269506" cy="4351338"/>
          </a:xfrm>
        </p:spPr>
        <p:txBody>
          <a:bodyPr>
            <a:normAutofit/>
          </a:bodyPr>
          <a:lstStyle/>
          <a:p>
            <a:pPr marL="0" indent="0">
              <a:buNone/>
            </a:pPr>
            <a:endParaRPr lang="en-US" sz="1800" b="1">
              <a:latin typeface="Times New Roman" panose="02020603050405020304" pitchFamily="18" charset="0"/>
              <a:cs typeface="Times New Roman" panose="02020603050405020304" pitchFamily="18" charset="0"/>
            </a:endParaRPr>
          </a:p>
          <a:p>
            <a:pPr marL="0" indent="0" algn="just">
              <a:buNone/>
            </a:pPr>
            <a:r>
              <a:rPr lang="en-US" sz="2200" b="1">
                <a:solidFill>
                  <a:schemeClr val="tx1"/>
                </a:solidFill>
                <a:latin typeface="Times New Roman" panose="02020603050405020304" pitchFamily="18" charset="0"/>
                <a:cs typeface="Times New Roman" panose="02020603050405020304" pitchFamily="18" charset="0"/>
              </a:rPr>
              <a:t>Personalized Response</a:t>
            </a:r>
          </a:p>
          <a:p>
            <a:pPr marL="0" indent="0" algn="just">
              <a:buNone/>
            </a:pPr>
            <a:r>
              <a:rPr lang="en-US" sz="2200">
                <a:solidFill>
                  <a:schemeClr val="tx1"/>
                </a:solidFill>
                <a:latin typeface="Times New Roman" panose="02020603050405020304" pitchFamily="18" charset="0"/>
                <a:cs typeface="Times New Roman" panose="02020603050405020304" pitchFamily="18" charset="0"/>
              </a:rPr>
              <a:t>FashionGPT utilizes Machine learning algorithms to analyze user preferences and browsing behavior, allowing it to generate personalized clothing </a:t>
            </a:r>
            <a:r>
              <a:rPr lang="en-US">
                <a:solidFill>
                  <a:schemeClr val="tx1"/>
                </a:solidFill>
                <a:latin typeface="Times New Roman" panose="02020603050405020304" pitchFamily="18" charset="0"/>
                <a:cs typeface="Times New Roman" panose="02020603050405020304" pitchFamily="18" charset="0"/>
              </a:rPr>
              <a:t>responsive</a:t>
            </a:r>
            <a:r>
              <a:rPr lang="en-US" sz="2200">
                <a:solidFill>
                  <a:schemeClr val="tx1"/>
                </a:solidFill>
                <a:latin typeface="Times New Roman" panose="02020603050405020304" pitchFamily="18" charset="0"/>
                <a:cs typeface="Times New Roman" panose="02020603050405020304" pitchFamily="18" charset="0"/>
              </a:rPr>
              <a:t> tailored to each individual.</a:t>
            </a:r>
          </a:p>
          <a:p>
            <a:pPr marL="0" indent="0" algn="just">
              <a:buNone/>
            </a:pPr>
            <a:endParaRPr lang="en-US" sz="22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200" b="1">
                <a:solidFill>
                  <a:schemeClr val="tx1"/>
                </a:solidFill>
                <a:latin typeface="Times New Roman" panose="02020603050405020304" pitchFamily="18" charset="0"/>
                <a:cs typeface="Times New Roman" panose="02020603050405020304" pitchFamily="18" charset="0"/>
              </a:rPr>
              <a:t>Improved Shopping Experience</a:t>
            </a:r>
          </a:p>
          <a:p>
            <a:pPr marL="0" indent="0" algn="just">
              <a:buNone/>
            </a:pPr>
            <a:r>
              <a:rPr lang="en-US" sz="2200">
                <a:solidFill>
                  <a:schemeClr val="tx1"/>
                </a:solidFill>
                <a:latin typeface="Times New Roman" panose="02020603050405020304" pitchFamily="18" charset="0"/>
                <a:cs typeface="Times New Roman" panose="02020603050405020304" pitchFamily="18" charset="0"/>
              </a:rPr>
              <a:t>By providing accurate and relevant clothing suggestions, FashionGPT enhances the overall shopping experience for customers, making it easier for them to discover new styles and find clothing items that match their unique tastes.</a:t>
            </a:r>
          </a:p>
          <a:p>
            <a:pPr marL="0" indent="0" algn="just">
              <a:buNone/>
            </a:pPr>
            <a:endParaRPr lang="en-US" sz="2200">
              <a:solidFill>
                <a:schemeClr val="tx1"/>
              </a:solidFill>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068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64A9D-977E-4D2C-9316-8A1741F9990E}"/>
              </a:ext>
            </a:extLst>
          </p:cNvPr>
          <p:cNvSpPr>
            <a:spLocks noGrp="1"/>
          </p:cNvSpPr>
          <p:nvPr>
            <p:ph type="title"/>
          </p:nvPr>
        </p:nvSpPr>
        <p:spPr>
          <a:xfrm>
            <a:off x="690282" y="469464"/>
            <a:ext cx="10096500" cy="1150907"/>
          </a:xfrm>
        </p:spPr>
        <p:txBody>
          <a:bodyPr/>
          <a:lstStyle/>
          <a:p>
            <a:pPr algn="ctr"/>
            <a:r>
              <a:rPr lang="en-IN">
                <a:solidFill>
                  <a:schemeClr val="accent1"/>
                </a:solidFill>
                <a:latin typeface="Times New Roman" panose="02020603050405020304" pitchFamily="18" charset="0"/>
                <a:cs typeface="Times New Roman" panose="02020603050405020304" pitchFamily="18" charset="0"/>
              </a:rPr>
              <a:t>Use Cases of FashionGPT</a:t>
            </a:r>
          </a:p>
        </p:txBody>
      </p:sp>
      <p:sp>
        <p:nvSpPr>
          <p:cNvPr id="3" name="Content Placeholder 2">
            <a:extLst>
              <a:ext uri="{FF2B5EF4-FFF2-40B4-BE49-F238E27FC236}">
                <a16:creationId xmlns:a16="http://schemas.microsoft.com/office/drawing/2014/main" id="{F626FAA3-8029-4200-A5F8-29344D65B57D}"/>
              </a:ext>
            </a:extLst>
          </p:cNvPr>
          <p:cNvSpPr>
            <a:spLocks noGrp="1"/>
          </p:cNvSpPr>
          <p:nvPr>
            <p:ph sz="half" idx="1"/>
          </p:nvPr>
        </p:nvSpPr>
        <p:spPr>
          <a:xfrm>
            <a:off x="1288676" y="1620371"/>
            <a:ext cx="9027459" cy="3962399"/>
          </a:xfrm>
        </p:spPr>
        <p:txBody>
          <a:bodyPr>
            <a:normAutofit/>
          </a:bodyPr>
          <a:lstStyle/>
          <a:p>
            <a:pPr marL="0" indent="0" algn="just">
              <a:buNone/>
            </a:pPr>
            <a:r>
              <a:rPr lang="en-US" sz="2000" b="1">
                <a:solidFill>
                  <a:schemeClr val="tx1"/>
                </a:solidFill>
                <a:latin typeface="Times New Roman" panose="02020603050405020304" pitchFamily="18" charset="0"/>
                <a:cs typeface="Times New Roman" panose="02020603050405020304" pitchFamily="18" charset="0"/>
              </a:rPr>
              <a:t>Fashion Styling</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FashionGPT can assist users by providing stylish responsive outfits on clothing combinations, color palettes, and accessories.</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Outfit Response</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FashionGPT can generate personalized outfit responses based on users preferences, occasion, and current trends.</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buNone/>
            </a:pPr>
            <a:endParaRPr lang="en-US" sz="1800">
              <a:latin typeface="Times New Roman" panose="02020603050405020304" pitchFamily="18" charset="0"/>
              <a:cs typeface="Times New Roman" panose="02020603050405020304" pitchFamily="18" charset="0"/>
            </a:endParaRPr>
          </a:p>
          <a:p>
            <a:pPr marL="0" indent="0">
              <a:buNone/>
            </a:pPr>
            <a:endParaRPr lang="en-US" sz="1800">
              <a:latin typeface="Times New Roman" panose="02020603050405020304" pitchFamily="18" charset="0"/>
              <a:cs typeface="Times New Roman" panose="02020603050405020304" pitchFamily="18" charset="0"/>
            </a:endParaRPr>
          </a:p>
          <a:p>
            <a:pPr marL="0" indent="0">
              <a:buNone/>
            </a:pPr>
            <a:endParaRPr lang="en-US" sz="1800">
              <a:latin typeface="Times New Roman" panose="02020603050405020304" pitchFamily="18" charset="0"/>
              <a:cs typeface="Times New Roman" panose="02020603050405020304" pitchFamily="18" charset="0"/>
            </a:endParaRPr>
          </a:p>
          <a:p>
            <a:pPr marL="0" indent="0">
              <a:buNone/>
            </a:pPr>
            <a:endParaRPr lang="en-US" sz="1800">
              <a:latin typeface="Times New Roman" panose="02020603050405020304" pitchFamily="18" charset="0"/>
              <a:cs typeface="Times New Roman" panose="02020603050405020304" pitchFamily="18" charset="0"/>
            </a:endParaRPr>
          </a:p>
          <a:p>
            <a:pPr marL="914400" lvl="2" indent="0">
              <a:buNone/>
            </a:pP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644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A0391-C77C-4D3D-88B3-B270FCF72CEF}"/>
              </a:ext>
            </a:extLst>
          </p:cNvPr>
          <p:cNvSpPr>
            <a:spLocks noGrp="1"/>
          </p:cNvSpPr>
          <p:nvPr>
            <p:ph type="title"/>
          </p:nvPr>
        </p:nvSpPr>
        <p:spPr>
          <a:xfrm>
            <a:off x="553640" y="744879"/>
            <a:ext cx="10096500" cy="1150907"/>
          </a:xfrm>
        </p:spPr>
        <p:txBody>
          <a:bodyPr>
            <a:normAutofit/>
          </a:bodyPr>
          <a:lstStyle/>
          <a:p>
            <a:pPr algn="ctr"/>
            <a:r>
              <a:rPr lang="en-US">
                <a:solidFill>
                  <a:schemeClr val="accent1"/>
                </a:solidFill>
                <a:latin typeface="Times New Roman" panose="02020603050405020304" pitchFamily="18" charset="0"/>
                <a:cs typeface="Times New Roman" panose="02020603050405020304" pitchFamily="18" charset="0"/>
              </a:rPr>
              <a:t>Existing System</a:t>
            </a:r>
            <a:endParaRPr lang="en-IN">
              <a:solidFill>
                <a:schemeClr val="accent1"/>
              </a:solidFill>
            </a:endParaRPr>
          </a:p>
        </p:txBody>
      </p:sp>
      <p:sp>
        <p:nvSpPr>
          <p:cNvPr id="3" name="Content Placeholder 2">
            <a:extLst>
              <a:ext uri="{FF2B5EF4-FFF2-40B4-BE49-F238E27FC236}">
                <a16:creationId xmlns:a16="http://schemas.microsoft.com/office/drawing/2014/main" id="{32CA6ADA-6FA9-4B42-A9B8-6A72ED8990C8}"/>
              </a:ext>
            </a:extLst>
          </p:cNvPr>
          <p:cNvSpPr>
            <a:spLocks noGrp="1"/>
          </p:cNvSpPr>
          <p:nvPr>
            <p:ph sz="half" idx="1"/>
          </p:nvPr>
        </p:nvSpPr>
        <p:spPr>
          <a:xfrm>
            <a:off x="1433283" y="1895786"/>
            <a:ext cx="8498577" cy="4351338"/>
          </a:xfrm>
        </p:spPr>
        <p:txBody>
          <a:bodyPr>
            <a:normAutofit/>
          </a:bodyPr>
          <a:lstStyle/>
          <a:p>
            <a:pPr algn="just"/>
            <a:r>
              <a:rPr lang="en-US" sz="2000">
                <a:solidFill>
                  <a:schemeClr val="tx1"/>
                </a:solidFill>
                <a:latin typeface="Times New Roman" panose="02020603050405020304" pitchFamily="18" charset="0"/>
                <a:cs typeface="Times New Roman" panose="02020603050405020304" pitchFamily="18" charset="0"/>
              </a:rPr>
              <a:t>The existing model </a:t>
            </a:r>
            <a:r>
              <a:rPr lang="en-US" sz="2000" dirty="0">
                <a:solidFill>
                  <a:schemeClr val="tx1"/>
                </a:solidFill>
                <a:latin typeface="Times New Roman" panose="02020603050405020304" pitchFamily="18" charset="0"/>
                <a:cs typeface="Times New Roman" panose="02020603050405020304" pitchFamily="18" charset="0"/>
              </a:rPr>
              <a:t>is designed to understand and generate human-like text responses across a wide range of topics </a:t>
            </a:r>
            <a:r>
              <a:rPr lang="en-US" sz="2000">
                <a:solidFill>
                  <a:schemeClr val="tx1"/>
                </a:solidFill>
                <a:latin typeface="Times New Roman" panose="02020603050405020304" pitchFamily="18" charset="0"/>
                <a:cs typeface="Times New Roman" panose="02020603050405020304" pitchFamily="18" charset="0"/>
              </a:rPr>
              <a:t>and contexts.</a:t>
            </a:r>
          </a:p>
          <a:p>
            <a:pPr algn="just"/>
            <a:r>
              <a:rPr lang="en-US" sz="2000">
                <a:solidFill>
                  <a:schemeClr val="tx1"/>
                </a:solidFill>
                <a:latin typeface="Times New Roman" panose="02020603050405020304" pitchFamily="18" charset="0"/>
                <a:cs typeface="Times New Roman" panose="02020603050405020304" pitchFamily="18" charset="0"/>
              </a:rPr>
              <a:t>One </a:t>
            </a:r>
            <a:r>
              <a:rPr lang="en-US" sz="2000" dirty="0">
                <a:solidFill>
                  <a:schemeClr val="tx1"/>
                </a:solidFill>
                <a:latin typeface="Times New Roman" panose="02020603050405020304" pitchFamily="18" charset="0"/>
                <a:cs typeface="Times New Roman" panose="02020603050405020304" pitchFamily="18" charset="0"/>
              </a:rPr>
              <a:t>significant limitation is that it generates only textual data, which affects its capabilities and potential applications.</a:t>
            </a:r>
            <a:endParaRPr lang="en-US" sz="2000" b="1">
              <a:solidFill>
                <a:schemeClr val="tx1"/>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D663EEF-62E5-48F0-BB21-F88E11A59C9E}"/>
              </a:ext>
            </a:extLst>
          </p:cNvPr>
          <p:cNvSpPr>
            <a:spLocks noGrp="1"/>
          </p:cNvSpPr>
          <p:nvPr>
            <p:ph sz="half" idx="2"/>
          </p:nvPr>
        </p:nvSpPr>
        <p:spPr>
          <a:xfrm flipH="1">
            <a:off x="10542563" y="1825625"/>
            <a:ext cx="2043883" cy="4351338"/>
          </a:xfrm>
        </p:spPr>
        <p:txBody>
          <a:bodyPr>
            <a:normAutofit/>
          </a:bodyPr>
          <a:lstStyle/>
          <a:p>
            <a:endParaRPr lang="en-US"/>
          </a:p>
          <a:p>
            <a:endParaRPr lang="en-US"/>
          </a:p>
          <a:p>
            <a:endParaRPr lang="en-IN"/>
          </a:p>
        </p:txBody>
      </p:sp>
    </p:spTree>
    <p:extLst>
      <p:ext uri="{BB962C8B-B14F-4D97-AF65-F5344CB8AC3E}">
        <p14:creationId xmlns:p14="http://schemas.microsoft.com/office/powerpoint/2010/main" val="4109223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73138-836C-4B8C-8F08-5ADFF6DB1291}"/>
              </a:ext>
            </a:extLst>
          </p:cNvPr>
          <p:cNvSpPr>
            <a:spLocks noGrp="1"/>
          </p:cNvSpPr>
          <p:nvPr>
            <p:ph type="title"/>
          </p:nvPr>
        </p:nvSpPr>
        <p:spPr>
          <a:xfrm>
            <a:off x="439271" y="396811"/>
            <a:ext cx="10096500" cy="1150907"/>
          </a:xfrm>
        </p:spPr>
        <p:txBody>
          <a:bodyPr/>
          <a:lstStyle/>
          <a:p>
            <a:pPr algn="ctr"/>
            <a:r>
              <a:rPr lang="en-US">
                <a:solidFill>
                  <a:schemeClr val="accent1"/>
                </a:solidFill>
                <a:latin typeface="Times New Roman" panose="02020603050405020304" pitchFamily="18" charset="0"/>
                <a:cs typeface="Times New Roman" panose="02020603050405020304" pitchFamily="18" charset="0"/>
              </a:rPr>
              <a:t>Disadvantages</a:t>
            </a:r>
            <a:endParaRPr lang="en-IN"/>
          </a:p>
        </p:txBody>
      </p:sp>
      <p:sp>
        <p:nvSpPr>
          <p:cNvPr id="3" name="Content Placeholder 2">
            <a:extLst>
              <a:ext uri="{FF2B5EF4-FFF2-40B4-BE49-F238E27FC236}">
                <a16:creationId xmlns:a16="http://schemas.microsoft.com/office/drawing/2014/main" id="{6EF39051-4ACA-44C4-A05C-CBF2F1E68755}"/>
              </a:ext>
            </a:extLst>
          </p:cNvPr>
          <p:cNvSpPr>
            <a:spLocks noGrp="1"/>
          </p:cNvSpPr>
          <p:nvPr>
            <p:ph sz="half" idx="1"/>
          </p:nvPr>
        </p:nvSpPr>
        <p:spPr>
          <a:xfrm>
            <a:off x="1342464" y="1458071"/>
            <a:ext cx="8879542" cy="4351338"/>
          </a:xfrm>
        </p:spPr>
        <p:txBody>
          <a:bodyPr>
            <a:normAutofit/>
          </a:bodyPr>
          <a:lstStyle/>
          <a:p>
            <a:pPr marL="0" indent="0" algn="just">
              <a:buNone/>
            </a:pPr>
            <a:r>
              <a:rPr lang="en-US" sz="2000" b="1">
                <a:solidFill>
                  <a:schemeClr val="tx1"/>
                </a:solidFill>
                <a:latin typeface="Times New Roman" panose="02020603050405020304" pitchFamily="18" charset="0"/>
                <a:cs typeface="Times New Roman" panose="02020603050405020304" pitchFamily="18" charset="0"/>
              </a:rPr>
              <a:t>Lack of Personalization</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The existing fashion responsive system lacks personalization, resulting in generic responses that do not cater to individual preferences and styles.</a:t>
            </a: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Limited Product Range</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Another disadvantage of the existing system is its limited product range. It often fails to showcase a diverse range of fashion items, limiting the options available to users.</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Inaccurate Response</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The existing system also suffers from inaccurate response and it provide only textual content.</a:t>
            </a:r>
            <a:endParaRPr lang="en-IN"/>
          </a:p>
        </p:txBody>
      </p:sp>
    </p:spTree>
    <p:extLst>
      <p:ext uri="{BB962C8B-B14F-4D97-AF65-F5344CB8AC3E}">
        <p14:creationId xmlns:p14="http://schemas.microsoft.com/office/powerpoint/2010/main" val="346076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BEA1-5F49-4DF3-9C34-FA596FF6A58B}"/>
              </a:ext>
            </a:extLst>
          </p:cNvPr>
          <p:cNvSpPr>
            <a:spLocks noGrp="1"/>
          </p:cNvSpPr>
          <p:nvPr>
            <p:ph type="title"/>
          </p:nvPr>
        </p:nvSpPr>
        <p:spPr>
          <a:xfrm>
            <a:off x="466165" y="478429"/>
            <a:ext cx="10668000" cy="1150907"/>
          </a:xfrm>
        </p:spPr>
        <p:txBody>
          <a:bodyPr>
            <a:normAutofit/>
          </a:bodyPr>
          <a:lstStyle/>
          <a:p>
            <a:r>
              <a:rPr lang="en-US" sz="3200">
                <a:solidFill>
                  <a:schemeClr val="accent1"/>
                </a:solidFill>
                <a:latin typeface="Times New Roman" panose="02020603050405020304" pitchFamily="18" charset="0"/>
                <a:cs typeface="Times New Roman" panose="02020603050405020304" pitchFamily="18" charset="0"/>
              </a:rPr>
              <a:t>Proposed System and How to Overcome the Disadvantages</a:t>
            </a:r>
            <a:endParaRPr lang="en-IN" sz="320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8DD31B-DC3F-4C53-BFC1-6CEED612AA02}"/>
              </a:ext>
            </a:extLst>
          </p:cNvPr>
          <p:cNvSpPr>
            <a:spLocks noGrp="1"/>
          </p:cNvSpPr>
          <p:nvPr>
            <p:ph sz="half" idx="1"/>
          </p:nvPr>
        </p:nvSpPr>
        <p:spPr>
          <a:xfrm>
            <a:off x="932330" y="1512795"/>
            <a:ext cx="9368117" cy="4351338"/>
          </a:xfrm>
        </p:spPr>
        <p:txBody>
          <a:bodyPr>
            <a:normAutofit/>
          </a:bodyPr>
          <a:lstStyle/>
          <a:p>
            <a:pPr marL="0" indent="0" algn="just">
              <a:buNone/>
            </a:pPr>
            <a:r>
              <a:rPr lang="en-US" sz="2000" b="1">
                <a:solidFill>
                  <a:schemeClr val="tx1"/>
                </a:solidFill>
                <a:latin typeface="Times New Roman" panose="02020603050405020304" pitchFamily="18" charset="0"/>
                <a:cs typeface="Times New Roman" panose="02020603050405020304" pitchFamily="18" charset="0"/>
              </a:rPr>
              <a:t>Introducing FashionGPT</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FashionGPT is an AI-powered system designed to overcome the limitations of the existing fashion responsive systems.It leverages state-of-the-art natural language processing and machine learning techniques to provide personalized and accurate fashion responsive items.</a:t>
            </a: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Overcoming Limitations with FashionGPT</a:t>
            </a:r>
          </a:p>
          <a:p>
            <a:pPr marL="0" indent="0" algn="just">
              <a:buNone/>
            </a:pPr>
            <a:r>
              <a:rPr lang="en-US" sz="2000">
                <a:solidFill>
                  <a:schemeClr val="tx1"/>
                </a:solidFill>
                <a:latin typeface="Times New Roman" panose="02020603050405020304" pitchFamily="18" charset="0"/>
                <a:cs typeface="Times New Roman" panose="02020603050405020304" pitchFamily="18" charset="0"/>
              </a:rPr>
              <a:t>FashionGPT utilizes natural language processing algorithms to understand fashion context and user preferences more effectively.It generates diverse and creative outfit suggestions by learning from a vast dataset of fashion trends and styles.The system is continuously updated with real-time fashion trends, ensuring up-to-date responses.FashionGPT automates the curation process, saving time and improving efficiency.</a:t>
            </a:r>
          </a:p>
          <a:p>
            <a:pPr marL="0" indent="0" algn="just">
              <a:buNone/>
            </a:pPr>
            <a:endParaRPr lang="en-US" sz="1800">
              <a:solidFill>
                <a:schemeClr val="tx1"/>
              </a:solidFill>
              <a:latin typeface="Times New Roman" panose="02020603050405020304" pitchFamily="18" charset="0"/>
              <a:cs typeface="Times New Roman" panose="02020603050405020304" pitchFamily="18" charset="0"/>
            </a:endParaRPr>
          </a:p>
          <a:p>
            <a:pPr algn="just"/>
            <a:endParaRPr lang="en-IN"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76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AEB9-EC0E-4AC2-8DD1-0ED8CA8D5932}"/>
              </a:ext>
            </a:extLst>
          </p:cNvPr>
          <p:cNvSpPr>
            <a:spLocks noGrp="1"/>
          </p:cNvSpPr>
          <p:nvPr>
            <p:ph type="title"/>
          </p:nvPr>
        </p:nvSpPr>
        <p:spPr>
          <a:xfrm>
            <a:off x="446064" y="674718"/>
            <a:ext cx="10096500" cy="1150907"/>
          </a:xfrm>
        </p:spPr>
        <p:txBody>
          <a:bodyPr/>
          <a:lstStyle/>
          <a:p>
            <a:pPr algn="ctr"/>
            <a:r>
              <a:rPr lang="en-US">
                <a:latin typeface="Times New Roman" panose="02020603050405020304" pitchFamily="18" charset="0"/>
                <a:cs typeface="Times New Roman" panose="02020603050405020304" pitchFamily="18" charset="0"/>
              </a:rPr>
              <a:t>	</a:t>
            </a:r>
            <a:r>
              <a:rPr lang="en-US">
                <a:solidFill>
                  <a:schemeClr val="accent1"/>
                </a:solidFill>
                <a:latin typeface="Times New Roman" panose="02020603050405020304" pitchFamily="18" charset="0"/>
                <a:cs typeface="Times New Roman" panose="02020603050405020304" pitchFamily="18" charset="0"/>
              </a:rPr>
              <a:t>Redirecting to the web-app</a:t>
            </a:r>
            <a:endParaRPr lang="en-IN">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2707FB-BEAA-4F7F-8491-E5916951FBCD}"/>
              </a:ext>
            </a:extLst>
          </p:cNvPr>
          <p:cNvSpPr>
            <a:spLocks noGrp="1"/>
          </p:cNvSpPr>
          <p:nvPr>
            <p:ph sz="half" idx="1"/>
          </p:nvPr>
        </p:nvSpPr>
        <p:spPr>
          <a:xfrm>
            <a:off x="1198880" y="1561465"/>
            <a:ext cx="9560560" cy="4351338"/>
          </a:xfrm>
        </p:spPr>
        <p:txBody>
          <a:bodyPr>
            <a:normAutofit/>
          </a:bodyPr>
          <a:lstStyle/>
          <a:p>
            <a:pPr algn="just"/>
            <a:endParaRPr lang="en-IN" b="1">
              <a:solidFill>
                <a:schemeClr val="tx1"/>
              </a:solidFill>
              <a:latin typeface="Times New Roman" panose="02020603050405020304" pitchFamily="18" charset="0"/>
              <a:cs typeface="Times New Roman" panose="02020603050405020304" pitchFamily="18" charset="0"/>
            </a:endParaRPr>
          </a:p>
          <a:p>
            <a:pPr marL="0" indent="0" algn="just">
              <a:buNone/>
            </a:pPr>
            <a:r>
              <a:rPr lang="en-US">
                <a:solidFill>
                  <a:schemeClr val="tx1"/>
                </a:solidFill>
                <a:latin typeface="Times New Roman" panose="02020603050405020304" pitchFamily="18" charset="0"/>
                <a:cs typeface="Times New Roman" panose="02020603050405020304" pitchFamily="18" charset="0"/>
              </a:rPr>
              <a:t>We </a:t>
            </a:r>
            <a:r>
              <a:rPr lang="en-US" dirty="0">
                <a:solidFill>
                  <a:schemeClr val="tx1"/>
                </a:solidFill>
                <a:latin typeface="Times New Roman" panose="02020603050405020304" pitchFamily="18" charset="0"/>
                <a:cs typeface="Times New Roman" panose="02020603050405020304" pitchFamily="18" charset="0"/>
              </a:rPr>
              <a:t>Develop a Web App using flask that presents the user. The user with a web app and an option to input the text and choose a model from various inference Models that we have trained. On clicking generate Image, the request is processed in the backend in python and a resultant image using the model is created and we hit another flask endpoint where the generated Image is displayed. The following end points have been created in our existing flask </a:t>
            </a:r>
            <a:r>
              <a:rPr lang="en-US">
                <a:solidFill>
                  <a:schemeClr val="tx1"/>
                </a:solidFill>
                <a:latin typeface="Times New Roman" panose="02020603050405020304" pitchFamily="18" charset="0"/>
                <a:cs typeface="Times New Roman" panose="02020603050405020304" pitchFamily="18" charset="0"/>
              </a:rPr>
              <a:t>application </a:t>
            </a:r>
          </a:p>
          <a:p>
            <a:pPr marL="0" indent="0" algn="just">
              <a:buNone/>
            </a:pPr>
            <a:r>
              <a:rPr lang="en-IN">
                <a:solidFill>
                  <a:schemeClr val="tx1"/>
                </a:solidFill>
                <a:latin typeface="Times New Roman" panose="02020603050405020304" pitchFamily="18" charset="0"/>
                <a:cs typeface="Times New Roman" panose="02020603050405020304" pitchFamily="18" charset="0"/>
              </a:rPr>
              <a:t>	</a:t>
            </a:r>
          </a:p>
        </p:txBody>
      </p:sp>
      <p:sp>
        <p:nvSpPr>
          <p:cNvPr id="4" name="Content Placeholder 3">
            <a:extLst>
              <a:ext uri="{FF2B5EF4-FFF2-40B4-BE49-F238E27FC236}">
                <a16:creationId xmlns:a16="http://schemas.microsoft.com/office/drawing/2014/main" id="{2FE767F9-43B4-44AB-954F-BE2B26852C8C}"/>
              </a:ext>
            </a:extLst>
          </p:cNvPr>
          <p:cNvSpPr>
            <a:spLocks noGrp="1"/>
          </p:cNvSpPr>
          <p:nvPr>
            <p:ph sz="half" idx="2"/>
          </p:nvPr>
        </p:nvSpPr>
        <p:spPr/>
        <p:txBody>
          <a:bodyPr>
            <a:normAutofit/>
          </a:bodyPr>
          <a:lstStyle/>
          <a:p>
            <a:pPr marL="0" indent="0">
              <a:buNone/>
            </a:pPr>
            <a:r>
              <a:rPr lang="en-US"/>
              <a:t>  </a:t>
            </a:r>
            <a:endParaRPr lang="en-IN"/>
          </a:p>
        </p:txBody>
      </p:sp>
    </p:spTree>
    <p:extLst>
      <p:ext uri="{BB962C8B-B14F-4D97-AF65-F5344CB8AC3E}">
        <p14:creationId xmlns:p14="http://schemas.microsoft.com/office/powerpoint/2010/main" val="2678602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4C000-4B18-40B7-9255-B79CB2A77D06}"/>
              </a:ext>
            </a:extLst>
          </p:cNvPr>
          <p:cNvSpPr>
            <a:spLocks noGrp="1"/>
          </p:cNvSpPr>
          <p:nvPr>
            <p:ph sz="half" idx="1"/>
          </p:nvPr>
        </p:nvSpPr>
        <p:spPr>
          <a:xfrm>
            <a:off x="457200" y="711200"/>
            <a:ext cx="9103360" cy="5465763"/>
          </a:xfrm>
        </p:spPr>
        <p:txBody>
          <a:bodyPr/>
          <a:lstStyle/>
          <a:p>
            <a:pPr marL="0" indent="0" algn="just">
              <a:buNone/>
            </a:pPr>
            <a:r>
              <a:rPr lang="en-IN">
                <a:solidFill>
                  <a:schemeClr val="tx1"/>
                </a:solidFill>
                <a:latin typeface="Times New Roman" panose="02020603050405020304" pitchFamily="18" charset="0"/>
                <a:cs typeface="Times New Roman" panose="02020603050405020304" pitchFamily="18" charset="0"/>
              </a:rPr>
              <a:t>	1) Home Route 			</a:t>
            </a:r>
          </a:p>
          <a:p>
            <a:pPr marL="0" indent="0" algn="just">
              <a:buNone/>
            </a:pPr>
            <a:r>
              <a:rPr lang="en-IN">
                <a:solidFill>
                  <a:schemeClr val="tx1"/>
                </a:solidFill>
                <a:latin typeface="Times New Roman" panose="02020603050405020304" pitchFamily="18" charset="0"/>
                <a:cs typeface="Times New Roman" panose="02020603050405020304" pitchFamily="18" charset="0"/>
              </a:rPr>
              <a:t>	2) Generate Route</a:t>
            </a:r>
            <a:endParaRPr lang="en-US">
              <a:solidFill>
                <a:schemeClr val="tx1"/>
              </a:solidFill>
              <a:latin typeface="Times New Roman" panose="02020603050405020304" pitchFamily="18" charset="0"/>
              <a:cs typeface="Times New Roman" panose="02020603050405020304" pitchFamily="18" charset="0"/>
            </a:endParaRPr>
          </a:p>
          <a:p>
            <a:pPr marL="0" indent="0" algn="just">
              <a:buNone/>
            </a:pPr>
            <a:r>
              <a:rPr lang="en-IN">
                <a:solidFill>
                  <a:schemeClr val="tx1"/>
                </a:solidFill>
                <a:latin typeface="Times New Roman" panose="02020603050405020304" pitchFamily="18" charset="0"/>
                <a:cs typeface="Times New Roman" panose="02020603050405020304" pitchFamily="18" charset="0"/>
              </a:rPr>
              <a:t>	3) Result Route</a:t>
            </a:r>
            <a:endParaRPr lang="en-US">
              <a:solidFill>
                <a:schemeClr val="tx1"/>
              </a:solidFill>
              <a:latin typeface="Times New Roman" panose="02020603050405020304" pitchFamily="18" charset="0"/>
              <a:cs typeface="Times New Roman" panose="02020603050405020304" pitchFamily="18" charset="0"/>
            </a:endParaRPr>
          </a:p>
          <a:p>
            <a:pPr marL="0" indent="0" algn="just">
              <a:buNone/>
            </a:pPr>
            <a:r>
              <a:rPr lang="en-IN">
                <a:solidFill>
                  <a:schemeClr val="tx1"/>
                </a:solidFill>
                <a:latin typeface="Times New Roman" panose="02020603050405020304" pitchFamily="18" charset="0"/>
                <a:cs typeface="Times New Roman" panose="02020603050405020304" pitchFamily="18" charset="0"/>
              </a:rPr>
              <a:t>	4) Error Route </a:t>
            </a:r>
          </a:p>
          <a:p>
            <a:pPr marL="0" indent="0">
              <a:buNone/>
            </a:pPr>
            <a:endParaRPr lang="en-IN"/>
          </a:p>
        </p:txBody>
      </p:sp>
      <p:pic>
        <p:nvPicPr>
          <p:cNvPr id="6" name="Picture 5">
            <a:extLst>
              <a:ext uri="{FF2B5EF4-FFF2-40B4-BE49-F238E27FC236}">
                <a16:creationId xmlns:a16="http://schemas.microsoft.com/office/drawing/2014/main" id="{E3E691D9-95EC-4247-9741-8FA694997FDA}"/>
              </a:ext>
            </a:extLst>
          </p:cNvPr>
          <p:cNvPicPr>
            <a:picLocks noChangeAspect="1"/>
          </p:cNvPicPr>
          <p:nvPr/>
        </p:nvPicPr>
        <p:blipFill rotWithShape="1">
          <a:blip r:embed="rId2">
            <a:extLst>
              <a:ext uri="{28A0092B-C50C-407E-A947-70E740481C1C}">
                <a14:useLocalDpi xmlns:a14="http://schemas.microsoft.com/office/drawing/2010/main" val="0"/>
              </a:ext>
            </a:extLst>
          </a:blip>
          <a:srcRect r="5883"/>
          <a:stretch/>
        </p:blipFill>
        <p:spPr>
          <a:xfrm>
            <a:off x="1391920" y="2589267"/>
            <a:ext cx="2997200" cy="3425453"/>
          </a:xfrm>
          <a:prstGeom prst="rect">
            <a:avLst/>
          </a:prstGeom>
        </p:spPr>
      </p:pic>
    </p:spTree>
    <p:extLst>
      <p:ext uri="{BB962C8B-B14F-4D97-AF65-F5344CB8AC3E}">
        <p14:creationId xmlns:p14="http://schemas.microsoft.com/office/powerpoint/2010/main" val="1209521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28E5F-8FFD-4332-B4A1-D02962D589FB}"/>
              </a:ext>
            </a:extLst>
          </p:cNvPr>
          <p:cNvSpPr>
            <a:spLocks noGrp="1"/>
          </p:cNvSpPr>
          <p:nvPr>
            <p:ph type="title"/>
          </p:nvPr>
        </p:nvSpPr>
        <p:spPr/>
        <p:txBody>
          <a:bodyPr/>
          <a:lstStyle/>
          <a:p>
            <a:pPr algn="ctr"/>
            <a:r>
              <a:rPr lang="en-US">
                <a:solidFill>
                  <a:schemeClr val="accent1"/>
                </a:solidFill>
                <a:latin typeface="Times New Roman" panose="02020603050405020304" pitchFamily="18" charset="0"/>
                <a:cs typeface="Times New Roman" panose="02020603050405020304" pitchFamily="18" charset="0"/>
              </a:rPr>
              <a:t>Problem Statement</a:t>
            </a:r>
            <a:endParaRPr lang="en-IN">
              <a:solidFill>
                <a:schemeClr val="accent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FC56C9F-7EB6-4565-8F68-312C847581D6}"/>
              </a:ext>
            </a:extLst>
          </p:cNvPr>
          <p:cNvSpPr>
            <a:spLocks noGrp="1"/>
          </p:cNvSpPr>
          <p:nvPr>
            <p:ph sz="half" idx="1"/>
          </p:nvPr>
        </p:nvSpPr>
        <p:spPr>
          <a:xfrm>
            <a:off x="1597959" y="1790700"/>
            <a:ext cx="8955741" cy="4351338"/>
          </a:xfrm>
        </p:spPr>
        <p:txBody>
          <a:bodyPr/>
          <a:lstStyle/>
          <a:p>
            <a:pPr marL="0" indent="0" algn="just">
              <a:buNone/>
            </a:pPr>
            <a:r>
              <a:rPr lang="en-US" sz="2000">
                <a:solidFill>
                  <a:schemeClr val="tx1"/>
                </a:solidFill>
                <a:latin typeface="Times New Roman" panose="02020603050405020304" pitchFamily="18" charset="0"/>
                <a:cs typeface="Times New Roman" panose="02020603050405020304" pitchFamily="18" charset="0"/>
              </a:rPr>
              <a:t>The Fashion GPT project seeks to address this issue by developing a sophisticated NLP model to enhance and streamline the content creation process in the dynamic and ever-evolving landscape of the fashion industry.</a:t>
            </a:r>
            <a:endParaRPr lang="en-IN" sz="2000">
              <a:solidFill>
                <a:schemeClr val="tx1"/>
              </a:solidFill>
              <a:latin typeface="Times New Roman" panose="02020603050405020304" pitchFamily="18" charset="0"/>
              <a:cs typeface="Times New Roman" panose="02020603050405020304" pitchFamily="18" charset="0"/>
            </a:endParaRPr>
          </a:p>
          <a:p>
            <a:endParaRPr lang="en-IN"/>
          </a:p>
        </p:txBody>
      </p:sp>
    </p:spTree>
    <p:extLst>
      <p:ext uri="{BB962C8B-B14F-4D97-AF65-F5344CB8AC3E}">
        <p14:creationId xmlns:p14="http://schemas.microsoft.com/office/powerpoint/2010/main" val="176719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32966-30B2-4737-ADCC-3E521173F3A5}"/>
              </a:ext>
            </a:extLst>
          </p:cNvPr>
          <p:cNvSpPr>
            <a:spLocks noGrp="1"/>
          </p:cNvSpPr>
          <p:nvPr>
            <p:ph type="title"/>
          </p:nvPr>
        </p:nvSpPr>
        <p:spPr>
          <a:xfrm>
            <a:off x="69476" y="662579"/>
            <a:ext cx="10096500" cy="1150907"/>
          </a:xfrm>
        </p:spPr>
        <p:txBody>
          <a:bodyPr/>
          <a:lstStyle/>
          <a:p>
            <a:pPr algn="ctr"/>
            <a:r>
              <a:rPr lang="en-US">
                <a:solidFill>
                  <a:schemeClr val="accent1"/>
                </a:solidFill>
                <a:latin typeface="Times New Roman" panose="02020603050405020304" pitchFamily="18" charset="0"/>
                <a:cs typeface="Times New Roman" panose="02020603050405020304" pitchFamily="18" charset="0"/>
              </a:rPr>
              <a:t>     </a:t>
            </a:r>
            <a:r>
              <a:rPr lang="en-IN">
                <a:solidFill>
                  <a:schemeClr val="accent1"/>
                </a:solidFill>
                <a:latin typeface="Times New Roman" panose="02020603050405020304" pitchFamily="18" charset="0"/>
                <a:cs typeface="Times New Roman" panose="02020603050405020304" pitchFamily="18" charset="0"/>
              </a:rPr>
              <a:t>Methodology</a:t>
            </a:r>
            <a:br>
              <a:rPr lang="en-US">
                <a:solidFill>
                  <a:schemeClr val="accent1"/>
                </a:solidFill>
                <a:latin typeface="Times New Roman" panose="02020603050405020304" pitchFamily="18" charset="0"/>
                <a:cs typeface="Times New Roman" panose="02020603050405020304" pitchFamily="18" charset="0"/>
              </a:rPr>
            </a:br>
            <a:endParaRPr lang="en-IN">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1BEB9C-AB1A-4B68-BE91-DD410932CC6E}"/>
              </a:ext>
            </a:extLst>
          </p:cNvPr>
          <p:cNvSpPr>
            <a:spLocks noGrp="1"/>
          </p:cNvSpPr>
          <p:nvPr>
            <p:ph sz="half" idx="1"/>
          </p:nvPr>
        </p:nvSpPr>
        <p:spPr>
          <a:xfrm>
            <a:off x="1335741" y="1428283"/>
            <a:ext cx="8830235" cy="4001434"/>
          </a:xfrm>
        </p:spPr>
        <p:txBody>
          <a:bodyPr>
            <a:normAutofit lnSpcReduction="10000"/>
          </a:bodyPr>
          <a:lstStyle/>
          <a:p>
            <a:pPr marL="0" indent="0" algn="just">
              <a:buNone/>
            </a:pPr>
            <a:r>
              <a:rPr lang="en-US" sz="2000" b="1">
                <a:solidFill>
                  <a:schemeClr val="accent1"/>
                </a:solidFill>
                <a:latin typeface="Times New Roman" panose="02020603050405020304" pitchFamily="18" charset="0"/>
                <a:cs typeface="Times New Roman" panose="02020603050405020304" pitchFamily="18" charset="0"/>
              </a:rPr>
              <a:t>Module </a:t>
            </a:r>
            <a:r>
              <a:rPr lang="en-US" sz="2000">
                <a:solidFill>
                  <a:schemeClr val="accent1"/>
                </a:solidFill>
                <a:latin typeface="Times New Roman" panose="02020603050405020304" pitchFamily="18" charset="0"/>
                <a:cs typeface="Times New Roman" panose="02020603050405020304" pitchFamily="18" charset="0"/>
              </a:rPr>
              <a:t>1-</a:t>
            </a:r>
            <a:r>
              <a:rPr lang="en-US" sz="2000" b="1">
                <a:solidFill>
                  <a:schemeClr val="tx1"/>
                </a:solidFill>
                <a:latin typeface="Times New Roman" panose="02020603050405020304" pitchFamily="18" charset="0"/>
                <a:cs typeface="Times New Roman" panose="02020603050405020304" pitchFamily="18" charset="0"/>
              </a:rPr>
              <a:t>Text Input Module: </a:t>
            </a:r>
            <a:r>
              <a:rPr lang="en-US" sz="2000">
                <a:solidFill>
                  <a:schemeClr val="tx1"/>
                </a:solidFill>
                <a:latin typeface="Times New Roman" panose="02020603050405020304" pitchFamily="18" charset="0"/>
                <a:cs typeface="Times New Roman" panose="02020603050405020304" pitchFamily="18" charset="0"/>
              </a:rPr>
              <a:t>This module is responsible for processing textual inputs, such as fashion-related queries or prompts, and converting them into a format suitable for the model's input layer. It may involve tokenization, encoding, and embedding of the input text.</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accent1"/>
                </a:solidFill>
                <a:latin typeface="Times New Roman" panose="02020603050405020304" pitchFamily="18" charset="0"/>
                <a:cs typeface="Times New Roman" panose="02020603050405020304" pitchFamily="18" charset="0"/>
              </a:rPr>
              <a:t>Module 2 - </a:t>
            </a:r>
            <a:r>
              <a:rPr lang="en-US" sz="2000" b="1">
                <a:solidFill>
                  <a:schemeClr val="tx1"/>
                </a:solidFill>
                <a:latin typeface="Times New Roman" panose="02020603050405020304" pitchFamily="18" charset="0"/>
                <a:cs typeface="Times New Roman" panose="02020603050405020304" pitchFamily="18" charset="0"/>
              </a:rPr>
              <a:t>Transformer Architecture: </a:t>
            </a:r>
            <a:r>
              <a:rPr lang="en-US" sz="2000">
                <a:solidFill>
                  <a:schemeClr val="tx1"/>
                </a:solidFill>
                <a:latin typeface="Times New Roman" panose="02020603050405020304" pitchFamily="18" charset="0"/>
                <a:cs typeface="Times New Roman" panose="02020603050405020304" pitchFamily="18" charset="0"/>
              </a:rPr>
              <a:t>The core of the Fashion GPT model is based on a transformer architecture. This module comprises multiple layers of transformers with self-attention mechanisms for capturing textual dependencies and generating coherent fashion-related text.</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accent1"/>
                </a:solidFill>
                <a:latin typeface="Times New Roman" panose="02020603050405020304" pitchFamily="18" charset="0"/>
                <a:cs typeface="Times New Roman" panose="02020603050405020304" pitchFamily="18" charset="0"/>
              </a:rPr>
              <a:t>Module 3 - </a:t>
            </a:r>
            <a:r>
              <a:rPr lang="en-US" sz="2000" b="1">
                <a:solidFill>
                  <a:schemeClr val="tx1"/>
                </a:solidFill>
                <a:latin typeface="Times New Roman" panose="02020603050405020304" pitchFamily="18" charset="0"/>
                <a:cs typeface="Times New Roman" panose="02020603050405020304" pitchFamily="18" charset="0"/>
              </a:rPr>
              <a:t>Decoder Module: </a:t>
            </a:r>
            <a:r>
              <a:rPr lang="en-US" sz="2000">
                <a:solidFill>
                  <a:schemeClr val="tx1"/>
                </a:solidFill>
                <a:latin typeface="Times New Roman" panose="02020603050405020304" pitchFamily="18" charset="0"/>
                <a:cs typeface="Times New Roman" panose="02020603050405020304" pitchFamily="18" charset="0"/>
              </a:rPr>
              <a:t>In the context of text generation tasks, the decoder module takes the output of the transformer layers and generates sequences of text. It may include techniques like beam search or nucleus sampling to improve the quality and diversity of the generated text.</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1819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7DE51-DF59-4055-A053-DB86736A1841}"/>
              </a:ext>
            </a:extLst>
          </p:cNvPr>
          <p:cNvSpPr>
            <a:spLocks noGrp="1"/>
          </p:cNvSpPr>
          <p:nvPr>
            <p:ph sz="half" idx="1"/>
          </p:nvPr>
        </p:nvSpPr>
        <p:spPr>
          <a:xfrm>
            <a:off x="1129554" y="902262"/>
            <a:ext cx="9117106" cy="4727574"/>
          </a:xfrm>
        </p:spPr>
        <p:txBody>
          <a:bodyPr>
            <a:normAutofit/>
          </a:bodyPr>
          <a:lstStyle/>
          <a:p>
            <a:pPr marL="0" indent="0" algn="just">
              <a:buNone/>
            </a:pPr>
            <a:endParaRPr lang="en-US" sz="22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200" b="1">
                <a:solidFill>
                  <a:schemeClr val="accent1"/>
                </a:solidFill>
                <a:latin typeface="Times New Roman" panose="02020603050405020304" pitchFamily="18" charset="0"/>
                <a:cs typeface="Times New Roman" panose="02020603050405020304" pitchFamily="18" charset="0"/>
              </a:rPr>
              <a:t>Module 4 - </a:t>
            </a:r>
            <a:r>
              <a:rPr lang="en-US" sz="2200" b="1">
                <a:solidFill>
                  <a:schemeClr val="tx1"/>
                </a:solidFill>
                <a:latin typeface="Times New Roman" panose="02020603050405020304" pitchFamily="18" charset="0"/>
                <a:cs typeface="Times New Roman" panose="02020603050405020304" pitchFamily="18" charset="0"/>
              </a:rPr>
              <a:t>Fine-tuning Module: </a:t>
            </a:r>
            <a:r>
              <a:rPr lang="en-US" sz="2200">
                <a:solidFill>
                  <a:schemeClr val="tx1"/>
                </a:solidFill>
                <a:latin typeface="Times New Roman" panose="02020603050405020304" pitchFamily="18" charset="0"/>
                <a:cs typeface="Times New Roman" panose="02020603050405020304" pitchFamily="18" charset="0"/>
              </a:rPr>
              <a:t>To adapt the pre-trained Fashion GPT model to specific fashion-related tasks, a fine-tuning module is used. This module fine-tunes the parameters of the model on a task-specific dataset, adjusting them to better fit the task requirements.</a:t>
            </a:r>
          </a:p>
          <a:p>
            <a:pPr marL="0" indent="0" algn="just">
              <a:buNone/>
            </a:pPr>
            <a:endParaRPr lang="en-US" sz="220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2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200" b="1">
                <a:solidFill>
                  <a:schemeClr val="accent1"/>
                </a:solidFill>
                <a:latin typeface="Times New Roman" panose="02020603050405020304" pitchFamily="18" charset="0"/>
                <a:cs typeface="Times New Roman" panose="02020603050405020304" pitchFamily="18" charset="0"/>
              </a:rPr>
              <a:t>Module 5 - </a:t>
            </a:r>
            <a:r>
              <a:rPr lang="en-US" sz="2200" b="1">
                <a:solidFill>
                  <a:schemeClr val="tx1"/>
                </a:solidFill>
                <a:latin typeface="Times New Roman" panose="02020603050405020304" pitchFamily="18" charset="0"/>
                <a:cs typeface="Times New Roman" panose="02020603050405020304" pitchFamily="18" charset="0"/>
              </a:rPr>
              <a:t>Deployment Module: </a:t>
            </a:r>
            <a:r>
              <a:rPr lang="en-US" sz="2200">
                <a:solidFill>
                  <a:schemeClr val="tx1"/>
                </a:solidFill>
                <a:latin typeface="Times New Roman" panose="02020603050405020304" pitchFamily="18" charset="0"/>
                <a:cs typeface="Times New Roman" panose="02020603050405020304" pitchFamily="18" charset="0"/>
              </a:rPr>
              <a:t>Once trained and evaluated, the Fashion GPT model needs to be deployed for practical use. This module involves packaging the model into an accessible format, such as an API or a deployable package, and integrating it into fashion-related applications or platforms.</a:t>
            </a:r>
          </a:p>
          <a:p>
            <a:pPr marL="0" indent="0" algn="just">
              <a:buNone/>
            </a:pPr>
            <a:endParaRPr lang="en-IN" sz="2200">
              <a:solidFill>
                <a:schemeClr val="tx1"/>
              </a:solidFill>
              <a:latin typeface="Times New Roman" panose="02020603050405020304" pitchFamily="18" charset="0"/>
              <a:cs typeface="Times New Roman" panose="02020603050405020304" pitchFamily="18" charset="0"/>
            </a:endParaRPr>
          </a:p>
          <a:p>
            <a:endParaRPr lang="en-IN"/>
          </a:p>
        </p:txBody>
      </p:sp>
    </p:spTree>
    <p:extLst>
      <p:ext uri="{BB962C8B-B14F-4D97-AF65-F5344CB8AC3E}">
        <p14:creationId xmlns:p14="http://schemas.microsoft.com/office/powerpoint/2010/main" val="3916252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8CC9-822B-4D60-B743-27160FBACA0B}"/>
              </a:ext>
            </a:extLst>
          </p:cNvPr>
          <p:cNvSpPr>
            <a:spLocks noGrp="1"/>
          </p:cNvSpPr>
          <p:nvPr>
            <p:ph type="title"/>
          </p:nvPr>
        </p:nvSpPr>
        <p:spPr>
          <a:xfrm>
            <a:off x="300990" y="469464"/>
            <a:ext cx="10096500" cy="1150907"/>
          </a:xfrm>
        </p:spPr>
        <p:txBody>
          <a:bodyPr/>
          <a:lstStyle/>
          <a:p>
            <a:pPr algn="ctr"/>
            <a:r>
              <a:rPr lang="en-US">
                <a:solidFill>
                  <a:srgbClr val="FF0000"/>
                </a:solidFill>
                <a:latin typeface="Times New Roman" panose="02020603050405020304" pitchFamily="18" charset="0"/>
                <a:cs typeface="Times New Roman" panose="02020603050405020304" pitchFamily="18" charset="0"/>
              </a:rPr>
              <a:t>  Algorithm</a:t>
            </a:r>
            <a:endParaRPr lang="en-IN">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862168-FB74-4BE6-AEDC-EAB72B2A9D7A}"/>
              </a:ext>
            </a:extLst>
          </p:cNvPr>
          <p:cNvSpPr>
            <a:spLocks noGrp="1"/>
          </p:cNvSpPr>
          <p:nvPr>
            <p:ph sz="half" idx="1"/>
          </p:nvPr>
        </p:nvSpPr>
        <p:spPr>
          <a:xfrm>
            <a:off x="1004049" y="1538350"/>
            <a:ext cx="9393442" cy="4652963"/>
          </a:xfrm>
        </p:spPr>
        <p:txBody>
          <a:bodyPr>
            <a:normAutofit/>
          </a:bodyPr>
          <a:lstStyle/>
          <a:p>
            <a:pPr marL="0" indent="0" algn="just">
              <a:buNone/>
            </a:pPr>
            <a:r>
              <a:rPr lang="en-US" sz="2000" b="1">
                <a:solidFill>
                  <a:schemeClr val="tx1"/>
                </a:solidFill>
                <a:latin typeface="Times New Roman" panose="02020603050405020304" pitchFamily="18" charset="0"/>
                <a:cs typeface="Times New Roman" panose="02020603050405020304" pitchFamily="18" charset="0"/>
              </a:rPr>
              <a:t>Transformer Architecture: </a:t>
            </a:r>
            <a:r>
              <a:rPr lang="en-US" sz="2000">
                <a:solidFill>
                  <a:schemeClr val="tx1"/>
                </a:solidFill>
                <a:latin typeface="Times New Roman" panose="02020603050405020304" pitchFamily="18" charset="0"/>
                <a:cs typeface="Times New Roman" panose="02020603050405020304" pitchFamily="18" charset="0"/>
              </a:rPr>
              <a:t>The backbone of Fashion GPT is the transformer architecture, which includes mechanisms like self-attention and multi-head attention. This architecture allows the model to capture long-range dependencies in fashion-related text and generate coherent and contextually relevant responses.</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000" b="1">
              <a:solidFill>
                <a:schemeClr val="tx1"/>
              </a:solidFill>
              <a:latin typeface="Times New Roman" panose="02020603050405020304" pitchFamily="18" charset="0"/>
              <a:cs typeface="Times New Roman" panose="02020603050405020304" pitchFamily="18" charset="0"/>
            </a:endParaRPr>
          </a:p>
          <a:p>
            <a:pPr marL="0" indent="0" algn="just">
              <a:buNone/>
            </a:pPr>
            <a:endParaRPr lang="en-IN" sz="2000"/>
          </a:p>
        </p:txBody>
      </p:sp>
    </p:spTree>
    <p:extLst>
      <p:ext uri="{BB962C8B-B14F-4D97-AF65-F5344CB8AC3E}">
        <p14:creationId xmlns:p14="http://schemas.microsoft.com/office/powerpoint/2010/main" val="2210842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A6E829-A971-4610-81D8-4DCFFA1F209F}"/>
              </a:ext>
            </a:extLst>
          </p:cNvPr>
          <p:cNvSpPr>
            <a:spLocks noGrp="1"/>
          </p:cNvSpPr>
          <p:nvPr>
            <p:ph sz="half" idx="1"/>
          </p:nvPr>
        </p:nvSpPr>
        <p:spPr>
          <a:xfrm>
            <a:off x="1515034" y="1144308"/>
            <a:ext cx="9325685" cy="4351338"/>
          </a:xfrm>
        </p:spPr>
        <p:txBody>
          <a:bodyPr>
            <a:normAutofit/>
          </a:bodyPr>
          <a:lstStyle/>
          <a:p>
            <a:pPr marL="0" indent="0" algn="just">
              <a:buNone/>
            </a:pPr>
            <a:r>
              <a:rPr lang="en-US" sz="4000" b="1">
                <a:solidFill>
                  <a:srgbClr val="FF0000"/>
                </a:solidFill>
                <a:latin typeface="Times New Roman" panose="02020603050405020304" pitchFamily="18" charset="0"/>
                <a:cs typeface="Times New Roman" panose="02020603050405020304" pitchFamily="18" charset="0"/>
              </a:rPr>
              <a:t>                         Models</a:t>
            </a:r>
          </a:p>
          <a:p>
            <a:pPr marL="0" indent="0" algn="just">
              <a:buNone/>
            </a:pPr>
            <a:endParaRPr lang="en-US" b="1">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Stabilityai/stable-diffusion-2: </a:t>
            </a:r>
            <a:r>
              <a:rPr lang="en-US" sz="2000">
                <a:solidFill>
                  <a:schemeClr val="tx1"/>
                </a:solidFill>
                <a:latin typeface="Times New Roman" panose="02020603050405020304" pitchFamily="18" charset="0"/>
                <a:cs typeface="Times New Roman" panose="02020603050405020304" pitchFamily="18" charset="0"/>
              </a:rPr>
              <a:t>GPT-2 model will generate prompts that are then fed into the Stable Diffusion model (StableDiffusionPipeline) for image generation. So, the transformers library is utilized here to generate text prompts which are then used as input for the image generation process.</a:t>
            </a:r>
          </a:p>
          <a:p>
            <a:pPr marL="0" indent="0" algn="just">
              <a:buNone/>
            </a:pPr>
            <a:endParaRPr lang="en-US" sz="200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000" b="1">
                <a:solidFill>
                  <a:schemeClr val="tx1"/>
                </a:solidFill>
                <a:latin typeface="Times New Roman" panose="02020603050405020304" pitchFamily="18" charset="0"/>
                <a:cs typeface="Times New Roman" panose="02020603050405020304" pitchFamily="18" charset="0"/>
              </a:rPr>
              <a:t>Hugging Face: </a:t>
            </a:r>
            <a:r>
              <a:rPr lang="en-US" sz="2000">
                <a:solidFill>
                  <a:schemeClr val="tx1"/>
                </a:solidFill>
                <a:latin typeface="Times New Roman" panose="02020603050405020304" pitchFamily="18" charset="0"/>
                <a:cs typeface="Times New Roman" panose="02020603050405020304" pitchFamily="18" charset="0"/>
              </a:rPr>
              <a:t>Implement machine learning models. Users can upload machine learning models to the platform. There are models for a variety of functions, including natural language processing (NLP), computer vision, image generation and audio.Share and discover machine learning </a:t>
            </a:r>
          </a:p>
          <a:p>
            <a:endParaRPr lang="en-IN"/>
          </a:p>
        </p:txBody>
      </p:sp>
    </p:spTree>
    <p:extLst>
      <p:ext uri="{BB962C8B-B14F-4D97-AF65-F5344CB8AC3E}">
        <p14:creationId xmlns:p14="http://schemas.microsoft.com/office/powerpoint/2010/main" val="1839945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EC2A-9B2C-44C4-9571-7ECA4EAA6D96}"/>
              </a:ext>
            </a:extLst>
          </p:cNvPr>
          <p:cNvSpPr>
            <a:spLocks noGrp="1"/>
          </p:cNvSpPr>
          <p:nvPr>
            <p:ph type="title"/>
          </p:nvPr>
        </p:nvSpPr>
        <p:spPr/>
        <p:txBody>
          <a:bodyPr/>
          <a:lstStyle/>
          <a:p>
            <a:pPr algn="ctr"/>
            <a:r>
              <a:rPr lang="en-US">
                <a:solidFill>
                  <a:schemeClr val="accent1"/>
                </a:solidFill>
                <a:latin typeface="Times New Roman" panose="02020603050405020304" pitchFamily="18" charset="0"/>
                <a:cs typeface="Times New Roman" panose="02020603050405020304" pitchFamily="18" charset="0"/>
              </a:rPr>
              <a:t>System Requirements</a:t>
            </a:r>
            <a:endParaRPr lang="en-IN">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EE014A-839A-4B08-BAF8-89F640172209}"/>
              </a:ext>
            </a:extLst>
          </p:cNvPr>
          <p:cNvSpPr>
            <a:spLocks noGrp="1"/>
          </p:cNvSpPr>
          <p:nvPr>
            <p:ph sz="half" idx="1"/>
          </p:nvPr>
        </p:nvSpPr>
        <p:spPr>
          <a:xfrm>
            <a:off x="1458109" y="1701430"/>
            <a:ext cx="4892040" cy="4351338"/>
          </a:xfrm>
        </p:spPr>
        <p:txBody>
          <a:bodyPr/>
          <a:lstStyle/>
          <a:p>
            <a:pPr marL="0" indent="0">
              <a:buNone/>
            </a:pPr>
            <a:r>
              <a:rPr lang="en-US" sz="2000" b="1" u="sng">
                <a:solidFill>
                  <a:schemeClr val="tx1"/>
                </a:solidFill>
                <a:latin typeface="Times New Roman" panose="02020603050405020304" pitchFamily="18" charset="0"/>
                <a:cs typeface="Times New Roman" panose="02020603050405020304" pitchFamily="18" charset="0"/>
              </a:rPr>
              <a:t>Software</a:t>
            </a:r>
          </a:p>
          <a:p>
            <a:r>
              <a:rPr lang="en-US" sz="2000">
                <a:solidFill>
                  <a:schemeClr val="tx1"/>
                </a:solidFill>
                <a:latin typeface="Times New Roman" panose="02020603050405020304" pitchFamily="18" charset="0"/>
                <a:cs typeface="Times New Roman" panose="02020603050405020304" pitchFamily="18" charset="0"/>
              </a:rPr>
              <a:t>Technology:Machine Learning</a:t>
            </a:r>
          </a:p>
          <a:p>
            <a:r>
              <a:rPr lang="en-US" sz="2000">
                <a:solidFill>
                  <a:schemeClr val="tx1"/>
                </a:solidFill>
                <a:latin typeface="Times New Roman" panose="02020603050405020304" pitchFamily="18" charset="0"/>
                <a:cs typeface="Times New Roman" panose="02020603050405020304" pitchFamily="18" charset="0"/>
              </a:rPr>
              <a:t>Language:Python</a:t>
            </a:r>
          </a:p>
          <a:p>
            <a:r>
              <a:rPr lang="en-US" sz="2000">
                <a:solidFill>
                  <a:schemeClr val="tx1"/>
                </a:solidFill>
                <a:latin typeface="Times New Roman" panose="02020603050405020304" pitchFamily="18" charset="0"/>
                <a:cs typeface="Times New Roman" panose="02020603050405020304" pitchFamily="18" charset="0"/>
              </a:rPr>
              <a:t>OS: Windows 7 and above</a:t>
            </a:r>
          </a:p>
          <a:p>
            <a:endParaRPr lang="en-US">
              <a:solidFill>
                <a:schemeClr val="tx1"/>
              </a:solidFill>
            </a:endParaRPr>
          </a:p>
          <a:p>
            <a:endParaRPr lang="en-IN">
              <a:solidFill>
                <a:schemeClr val="tx1"/>
              </a:solidFill>
            </a:endParaRPr>
          </a:p>
        </p:txBody>
      </p:sp>
      <p:sp>
        <p:nvSpPr>
          <p:cNvPr id="4" name="Content Placeholder 3">
            <a:extLst>
              <a:ext uri="{FF2B5EF4-FFF2-40B4-BE49-F238E27FC236}">
                <a16:creationId xmlns:a16="http://schemas.microsoft.com/office/drawing/2014/main" id="{8773B899-4D20-4F90-8D5D-55F6E547BF42}"/>
              </a:ext>
            </a:extLst>
          </p:cNvPr>
          <p:cNvSpPr>
            <a:spLocks noGrp="1"/>
          </p:cNvSpPr>
          <p:nvPr>
            <p:ph sz="half" idx="2"/>
          </p:nvPr>
        </p:nvSpPr>
        <p:spPr>
          <a:xfrm>
            <a:off x="6842760" y="1701430"/>
            <a:ext cx="4892040" cy="4351338"/>
          </a:xfrm>
        </p:spPr>
        <p:txBody>
          <a:bodyPr/>
          <a:lstStyle/>
          <a:p>
            <a:pPr marL="0" indent="0">
              <a:buNone/>
            </a:pPr>
            <a:r>
              <a:rPr lang="en-US" sz="2000" b="1" u="sng">
                <a:solidFill>
                  <a:schemeClr val="tx1"/>
                </a:solidFill>
                <a:latin typeface="Times New Roman" panose="02020603050405020304" pitchFamily="18" charset="0"/>
                <a:cs typeface="Times New Roman" panose="02020603050405020304" pitchFamily="18" charset="0"/>
              </a:rPr>
              <a:t>Hardware</a:t>
            </a:r>
          </a:p>
          <a:p>
            <a:r>
              <a:rPr lang="en-US" sz="2000">
                <a:solidFill>
                  <a:schemeClr val="tx1"/>
                </a:solidFill>
                <a:latin typeface="Times New Roman" panose="02020603050405020304" pitchFamily="18" charset="0"/>
                <a:cs typeface="Times New Roman" panose="02020603050405020304" pitchFamily="18" charset="0"/>
              </a:rPr>
              <a:t>RAM: 4GB and above</a:t>
            </a:r>
          </a:p>
          <a:p>
            <a:r>
              <a:rPr lang="en-US" sz="2000">
                <a:solidFill>
                  <a:schemeClr val="tx1"/>
                </a:solidFill>
                <a:latin typeface="Times New Roman" panose="02020603050405020304" pitchFamily="18" charset="0"/>
                <a:cs typeface="Times New Roman" panose="02020603050405020304" pitchFamily="18" charset="0"/>
              </a:rPr>
              <a:t>Storage: 512 SSD (min)</a:t>
            </a:r>
          </a:p>
          <a:p>
            <a:pPr marL="0" indent="0">
              <a:buNone/>
            </a:pPr>
            <a:endParaRPr lang="en-US" sz="2000" b="1" u="sng">
              <a:solidFill>
                <a:schemeClr val="tx1"/>
              </a:solidFill>
            </a:endParaRPr>
          </a:p>
          <a:p>
            <a:pPr marL="0" indent="0">
              <a:buNone/>
            </a:pPr>
            <a:endParaRPr lang="en-IN">
              <a:solidFill>
                <a:schemeClr val="tx1"/>
              </a:solidFill>
            </a:endParaRPr>
          </a:p>
        </p:txBody>
      </p:sp>
    </p:spTree>
    <p:extLst>
      <p:ext uri="{BB962C8B-B14F-4D97-AF65-F5344CB8AC3E}">
        <p14:creationId xmlns:p14="http://schemas.microsoft.com/office/powerpoint/2010/main" val="627578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52CD36-4E26-48C8-B78C-3546C0A7CC87}"/>
              </a:ext>
            </a:extLst>
          </p:cNvPr>
          <p:cNvSpPr/>
          <p:nvPr/>
        </p:nvSpPr>
        <p:spPr>
          <a:xfrm>
            <a:off x="863853" y="1339781"/>
            <a:ext cx="1282723" cy="523220"/>
          </a:xfrm>
          <a:prstGeom prst="rect">
            <a:avLst/>
          </a:prstGeom>
        </p:spPr>
        <p:txBody>
          <a:bodyPr wrap="none">
            <a:spAutoFit/>
          </a:bodyPr>
          <a:lstStyle/>
          <a:p>
            <a:r>
              <a:rPr lang="en-US" sz="2800" b="1">
                <a:solidFill>
                  <a:schemeClr val="tx1">
                    <a:lumMod val="95000"/>
                    <a:lumOff val="5000"/>
                  </a:schemeClr>
                </a:solidFill>
                <a:latin typeface="Times New Roman" panose="02020603050405020304" pitchFamily="18" charset="0"/>
                <a:cs typeface="Times New Roman" panose="02020603050405020304" pitchFamily="18" charset="0"/>
              </a:rPr>
              <a:t>Result:</a:t>
            </a:r>
            <a:endParaRPr lang="en-IN" sz="2800" b="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1557152C-758F-47F4-9058-9A19FF372CFB}"/>
              </a:ext>
            </a:extLst>
          </p:cNvPr>
          <p:cNvSpPr>
            <a:spLocks noGrp="1"/>
          </p:cNvSpPr>
          <p:nvPr>
            <p:ph type="title"/>
          </p:nvPr>
        </p:nvSpPr>
        <p:spPr>
          <a:xfrm>
            <a:off x="457200" y="639793"/>
            <a:ext cx="10096500" cy="1150907"/>
          </a:xfrm>
        </p:spPr>
        <p:txBody>
          <a:bodyPr/>
          <a:lstStyle/>
          <a:p>
            <a:pPr algn="ctr"/>
            <a:r>
              <a:rPr lang="en-US"/>
              <a:t>Implementation</a:t>
            </a:r>
            <a:endParaRPr lang="en-IN"/>
          </a:p>
        </p:txBody>
      </p:sp>
      <p:pic>
        <p:nvPicPr>
          <p:cNvPr id="8" name="Content Placeholder 7">
            <a:extLst>
              <a:ext uri="{FF2B5EF4-FFF2-40B4-BE49-F238E27FC236}">
                <a16:creationId xmlns:a16="http://schemas.microsoft.com/office/drawing/2014/main" id="{BDDCF3A4-B457-48F2-BE21-FAB4009CEF4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7153"/>
          <a:stretch/>
        </p:blipFill>
        <p:spPr>
          <a:xfrm>
            <a:off x="958103" y="1863001"/>
            <a:ext cx="8418979" cy="699988"/>
          </a:xfrm>
        </p:spPr>
      </p:pic>
      <p:pic>
        <p:nvPicPr>
          <p:cNvPr id="11" name="Picture 10">
            <a:extLst>
              <a:ext uri="{FF2B5EF4-FFF2-40B4-BE49-F238E27FC236}">
                <a16:creationId xmlns:a16="http://schemas.microsoft.com/office/drawing/2014/main" id="{2BB835E8-BE34-43CF-B1FA-16651F7AB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103" y="2562989"/>
            <a:ext cx="2645709" cy="3201317"/>
          </a:xfrm>
          <a:prstGeom prst="rect">
            <a:avLst/>
          </a:prstGeom>
        </p:spPr>
      </p:pic>
      <p:pic>
        <p:nvPicPr>
          <p:cNvPr id="14" name="Picture 13">
            <a:extLst>
              <a:ext uri="{FF2B5EF4-FFF2-40B4-BE49-F238E27FC236}">
                <a16:creationId xmlns:a16="http://schemas.microsoft.com/office/drawing/2014/main" id="{441BD374-9116-497B-BAFD-DA4AC7033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3813" y="2562989"/>
            <a:ext cx="2895600" cy="3201317"/>
          </a:xfrm>
          <a:prstGeom prst="rect">
            <a:avLst/>
          </a:prstGeom>
        </p:spPr>
      </p:pic>
      <p:pic>
        <p:nvPicPr>
          <p:cNvPr id="16" name="Picture 15">
            <a:extLst>
              <a:ext uri="{FF2B5EF4-FFF2-40B4-BE49-F238E27FC236}">
                <a16:creationId xmlns:a16="http://schemas.microsoft.com/office/drawing/2014/main" id="{B54414A7-B3D5-4A26-ADC9-42DBEE5917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9413" y="2554942"/>
            <a:ext cx="2895600" cy="3209364"/>
          </a:xfrm>
          <a:prstGeom prst="rect">
            <a:avLst/>
          </a:prstGeom>
        </p:spPr>
      </p:pic>
    </p:spTree>
    <p:extLst>
      <p:ext uri="{BB962C8B-B14F-4D97-AF65-F5344CB8AC3E}">
        <p14:creationId xmlns:p14="http://schemas.microsoft.com/office/powerpoint/2010/main" val="523226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21A93-3796-46C0-B8A8-D95E09BB207B}"/>
              </a:ext>
            </a:extLst>
          </p:cNvPr>
          <p:cNvSpPr>
            <a:spLocks noGrp="1"/>
          </p:cNvSpPr>
          <p:nvPr>
            <p:ph type="title"/>
          </p:nvPr>
        </p:nvSpPr>
        <p:spPr>
          <a:xfrm>
            <a:off x="881903" y="415675"/>
            <a:ext cx="10096500" cy="1150907"/>
          </a:xfrm>
        </p:spPr>
        <p:txBody>
          <a:bodyPr/>
          <a:lstStyle/>
          <a:p>
            <a:pPr algn="ctr"/>
            <a:r>
              <a:rPr lang="en-US">
                <a:solidFill>
                  <a:schemeClr val="accent1"/>
                </a:solidFill>
                <a:latin typeface="Times New Roman" panose="02020603050405020304" pitchFamily="18" charset="0"/>
                <a:cs typeface="Times New Roman" panose="02020603050405020304" pitchFamily="18" charset="0"/>
              </a:rPr>
              <a:t>Conclusion</a:t>
            </a:r>
            <a:endParaRPr lang="en-IN"/>
          </a:p>
        </p:txBody>
      </p:sp>
      <p:sp>
        <p:nvSpPr>
          <p:cNvPr id="3" name="Content Placeholder 2">
            <a:extLst>
              <a:ext uri="{FF2B5EF4-FFF2-40B4-BE49-F238E27FC236}">
                <a16:creationId xmlns:a16="http://schemas.microsoft.com/office/drawing/2014/main" id="{E4AAE749-077A-4DAE-BEE6-D21BBFE690C4}"/>
              </a:ext>
            </a:extLst>
          </p:cNvPr>
          <p:cNvSpPr>
            <a:spLocks noGrp="1"/>
          </p:cNvSpPr>
          <p:nvPr>
            <p:ph sz="half" idx="1"/>
          </p:nvPr>
        </p:nvSpPr>
        <p:spPr>
          <a:xfrm>
            <a:off x="1397373" y="1672821"/>
            <a:ext cx="8751794" cy="4769504"/>
          </a:xfrm>
        </p:spPr>
        <p:txBody>
          <a:bodyPr>
            <a:normAutofit/>
          </a:bodyPr>
          <a:lstStyle/>
          <a:p>
            <a:pPr algn="just"/>
            <a:r>
              <a:rPr lang="en-US" sz="2000">
                <a:solidFill>
                  <a:schemeClr val="tx1"/>
                </a:solidFill>
              </a:rPr>
              <a:t>This project enhances visual content creation by generating images related to given text inputs. </a:t>
            </a:r>
          </a:p>
          <a:p>
            <a:pPr algn="just"/>
            <a:r>
              <a:rPr lang="en-US" sz="2000">
                <a:solidFill>
                  <a:schemeClr val="tx1"/>
                </a:solidFill>
              </a:rPr>
              <a:t>The system effectively bridges the gap between textual descriptions and visual representations, offering a seamless and innovative approach to content generation.</a:t>
            </a:r>
            <a:endParaRPr lang="en-IN" sz="2000">
              <a:solidFill>
                <a:schemeClr val="tx1"/>
              </a:solidFill>
            </a:endParaRPr>
          </a:p>
        </p:txBody>
      </p:sp>
    </p:spTree>
    <p:extLst>
      <p:ext uri="{BB962C8B-B14F-4D97-AF65-F5344CB8AC3E}">
        <p14:creationId xmlns:p14="http://schemas.microsoft.com/office/powerpoint/2010/main" val="2138286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0E936-D302-44EE-8D1F-5B85BA7EBB0A}"/>
              </a:ext>
            </a:extLst>
          </p:cNvPr>
          <p:cNvSpPr>
            <a:spLocks noGrp="1"/>
          </p:cNvSpPr>
          <p:nvPr>
            <p:ph type="title"/>
          </p:nvPr>
        </p:nvSpPr>
        <p:spPr>
          <a:xfrm>
            <a:off x="681318" y="660415"/>
            <a:ext cx="10096500" cy="5537170"/>
          </a:xfrm>
        </p:spPr>
        <p:txBody>
          <a:bodyPr>
            <a:normAutofit/>
          </a:bodyPr>
          <a:lstStyle/>
          <a:p>
            <a:pPr algn="ctr"/>
            <a:r>
              <a:rPr lang="en-US" sz="8000">
                <a:solidFill>
                  <a:schemeClr val="accent1"/>
                </a:solidFill>
                <a:latin typeface="Times New Roman" panose="02020603050405020304" pitchFamily="18" charset="0"/>
                <a:cs typeface="Times New Roman" panose="02020603050405020304" pitchFamily="18" charset="0"/>
              </a:rPr>
              <a:t>THANK YOU</a:t>
            </a:r>
            <a:endParaRPr lang="en-IN" sz="800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448761"/>
      </p:ext>
    </p:extLst>
  </p:cSld>
  <p:clrMapOvr>
    <a:masterClrMapping/>
  </p:clrMapOvr>
</p:sld>
</file>

<file path=ppt/theme/theme1.xml><?xml version="1.0" encoding="utf-8"?>
<a:theme xmlns:a="http://schemas.openxmlformats.org/drawingml/2006/main" name="Vertical Lexicon design 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pPr>
      <a:bodyPr rtlCol="0" anchor="ctr"/>
      <a:lstStyle>
        <a:defPPr algn="ctr">
          <a:defRPr dirty="0"/>
        </a:defPPr>
      </a:lstStyle>
      <a:style>
        <a:lnRef idx="2">
          <a:schemeClr val="accent2">
            <a:shade val="50000"/>
          </a:schemeClr>
        </a:lnRef>
        <a:fillRef idx="1">
          <a:schemeClr val="accent2"/>
        </a:fillRef>
        <a:effectRef idx="0">
          <a:schemeClr val="accent2"/>
        </a:effectRef>
        <a:fontRef idx="minor">
          <a:schemeClr val="lt1"/>
        </a:fontRef>
      </a:style>
    </a:spDef>
    <a:lnDef>
      <a:spPr/>
      <a:bodyPr/>
      <a:lstStyle/>
      <a:style>
        <a:lnRef idx="1">
          <a:schemeClr val="accent2"/>
        </a:lnRef>
        <a:fillRef idx="0">
          <a:schemeClr val="accent2"/>
        </a:fillRef>
        <a:effectRef idx="0">
          <a:schemeClr val="accent2"/>
        </a:effectRef>
        <a:fontRef idx="minor">
          <a:schemeClr val="tx1"/>
        </a:fontRef>
      </a:style>
    </a:lnDef>
    <a:txDef>
      <a:spPr>
        <a:noFill/>
        <a:ln>
          <a:solidFill>
            <a:schemeClr val="tx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Vertical lexicon design slides.potx" id="{49C7086D-B6BF-42C9-B2E9-7A6F5A963EAA}" vid="{839E83B1-FF0C-49E8-8563-59D864F05AE3}"/>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1BD8E5-A18E-435C-B431-90A6B59F4B6F}">
  <ds:schemaRefs>
    <ds:schemaRef ds:uri="http://schemas.microsoft.com/office/2006/metadata/properties"/>
    <ds:schemaRef ds:uri="http://schemas.microsoft.com/office/infopath/2007/PartnerControls"/>
    <ds:schemaRef ds:uri="40262f94-9f35-4ac3-9a90-690165a166b7"/>
  </ds:schemaRefs>
</ds:datastoreItem>
</file>

<file path=customXml/itemProps2.xml><?xml version="1.0" encoding="utf-8"?>
<ds:datastoreItem xmlns:ds="http://schemas.openxmlformats.org/officeDocument/2006/customXml" ds:itemID="{05EEE0F9-7BC9-4998-8617-7CC115AD97E2}">
  <ds:schemaRefs>
    <ds:schemaRef ds:uri="http://schemas.microsoft.com/sharepoint/v3/contenttype/forms"/>
  </ds:schemaRefs>
</ds:datastoreItem>
</file>

<file path=customXml/itemProps3.xml><?xml version="1.0" encoding="utf-8"?>
<ds:datastoreItem xmlns:ds="http://schemas.openxmlformats.org/officeDocument/2006/customXml" ds:itemID="{4BEBB951-DE64-4CB8-9E1C-184A357AD7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Vertical lexicon design slides</Template>
  <TotalTime>1161</TotalTime>
  <Words>1134</Words>
  <Application>Microsoft Office PowerPoint</Application>
  <PresentationFormat>Widescreen</PresentationFormat>
  <Paragraphs>122</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Vertical Lexicon design template</vt:lpstr>
      <vt:lpstr>           SIR C.R.REDDY COLLEGE OF ENGINEERING AICTE, Permanently Affiliated to JNTU-KAKINADA  accredited by the NBA, NAAC Eluru-534007 2023-2024   FashionGPT</vt:lpstr>
      <vt:lpstr>Index</vt:lpstr>
      <vt:lpstr>Abstract</vt:lpstr>
      <vt:lpstr>Introduction</vt:lpstr>
      <vt:lpstr>Benefits of FashionGPT</vt:lpstr>
      <vt:lpstr>Use Cases of FashionGPT</vt:lpstr>
      <vt:lpstr>Existing System</vt:lpstr>
      <vt:lpstr>Disadvantages</vt:lpstr>
      <vt:lpstr>Proposed System and How to Overcome the Disadvantages</vt:lpstr>
      <vt:lpstr> Redirecting to the web-app</vt:lpstr>
      <vt:lpstr>PowerPoint Presentation</vt:lpstr>
      <vt:lpstr>Problem Statement</vt:lpstr>
      <vt:lpstr>     Methodology </vt:lpstr>
      <vt:lpstr>PowerPoint Presentation</vt:lpstr>
      <vt:lpstr>  Algorithm</vt:lpstr>
      <vt:lpstr>PowerPoint Presentation</vt:lpstr>
      <vt:lpstr>System Requirements</vt:lpstr>
      <vt:lpstr>Implementation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FashionGPT</dc:title>
  <dc:creator>G ANUSHA</dc:creator>
  <cp:lastModifiedBy>G ANUSHA</cp:lastModifiedBy>
  <cp:revision>137</cp:revision>
  <dcterms:created xsi:type="dcterms:W3CDTF">2024-02-05T10:51:43Z</dcterms:created>
  <dcterms:modified xsi:type="dcterms:W3CDTF">2024-04-22T06:54:26Z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